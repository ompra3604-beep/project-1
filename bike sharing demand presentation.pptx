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4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9" r:id="rId13"/>
    <p:sldId id="283" r:id="rId14"/>
    <p:sldId id="284" r:id="rId15"/>
    <p:sldId id="285" r:id="rId16"/>
    <p:sldId id="286" r:id="rId17"/>
    <p:sldId id="293" r:id="rId18"/>
    <p:sldId id="29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0DDA1F-EFFB-4D10-B6A0-CBB4D9886BA3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9DF411-BA6A-4BC3-BC0C-9D1CF1AF1422}">
      <dgm:prSet custT="1"/>
      <dgm:spPr/>
      <dgm:t>
        <a:bodyPr/>
        <a:lstStyle/>
        <a:p>
          <a:pPr algn="l"/>
          <a:r>
            <a:rPr lang="en-IN" sz="2800" b="1" dirty="0"/>
            <a:t>Bike Sharing Demand Analysis</a:t>
          </a:r>
          <a:endParaRPr lang="en-IN" sz="2800" dirty="0"/>
        </a:p>
      </dgm:t>
    </dgm:pt>
    <dgm:pt modelId="{3643DD05-36AD-4170-80DC-496CDD262BC8}" type="parTrans" cxnId="{372DEB8F-EDF3-445A-872C-05453463B599}">
      <dgm:prSet/>
      <dgm:spPr/>
      <dgm:t>
        <a:bodyPr/>
        <a:lstStyle/>
        <a:p>
          <a:endParaRPr lang="en-IN"/>
        </a:p>
      </dgm:t>
    </dgm:pt>
    <dgm:pt modelId="{1D984CB1-90EE-480F-9A6A-8A698FCE2AEB}" type="sibTrans" cxnId="{372DEB8F-EDF3-445A-872C-05453463B599}">
      <dgm:prSet/>
      <dgm:spPr/>
      <dgm:t>
        <a:bodyPr/>
        <a:lstStyle/>
        <a:p>
          <a:endParaRPr lang="en-IN"/>
        </a:p>
      </dgm:t>
    </dgm:pt>
    <dgm:pt modelId="{7D79F217-29A3-47D3-91C0-75FFC3A7B135}" type="pres">
      <dgm:prSet presAssocID="{3E0DDA1F-EFFB-4D10-B6A0-CBB4D9886BA3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5EA7D8B-06A2-48D6-AA48-5CDC39B06F5B}" type="pres">
      <dgm:prSet presAssocID="{E29DF411-BA6A-4BC3-BC0C-9D1CF1AF1422}" presName="horFlow" presStyleCnt="0"/>
      <dgm:spPr/>
    </dgm:pt>
    <dgm:pt modelId="{8E5B6F18-6E6D-418E-9542-6E9362275DB6}" type="pres">
      <dgm:prSet presAssocID="{E29DF411-BA6A-4BC3-BC0C-9D1CF1AF1422}" presName="bigChev" presStyleLbl="node1" presStyleIdx="0" presStyleCnt="1" custScaleX="180342"/>
      <dgm:spPr/>
    </dgm:pt>
  </dgm:ptLst>
  <dgm:cxnLst>
    <dgm:cxn modelId="{D8BD7D08-2D3D-4443-9368-6650EFE63461}" type="presOf" srcId="{3E0DDA1F-EFFB-4D10-B6A0-CBB4D9886BA3}" destId="{7D79F217-29A3-47D3-91C0-75FFC3A7B135}" srcOrd="0" destOrd="0" presId="urn:microsoft.com/office/officeart/2005/8/layout/lProcess3"/>
    <dgm:cxn modelId="{3E60D059-C4BF-435D-9831-5B0A0869242F}" type="presOf" srcId="{E29DF411-BA6A-4BC3-BC0C-9D1CF1AF1422}" destId="{8E5B6F18-6E6D-418E-9542-6E9362275DB6}" srcOrd="0" destOrd="0" presId="urn:microsoft.com/office/officeart/2005/8/layout/lProcess3"/>
    <dgm:cxn modelId="{372DEB8F-EDF3-445A-872C-05453463B599}" srcId="{3E0DDA1F-EFFB-4D10-B6A0-CBB4D9886BA3}" destId="{E29DF411-BA6A-4BC3-BC0C-9D1CF1AF1422}" srcOrd="0" destOrd="0" parTransId="{3643DD05-36AD-4170-80DC-496CDD262BC8}" sibTransId="{1D984CB1-90EE-480F-9A6A-8A698FCE2AEB}"/>
    <dgm:cxn modelId="{15A89EC5-A992-4A9E-B90A-12A9F7E97C38}" type="presParOf" srcId="{7D79F217-29A3-47D3-91C0-75FFC3A7B135}" destId="{45EA7D8B-06A2-48D6-AA48-5CDC39B06F5B}" srcOrd="0" destOrd="0" presId="urn:microsoft.com/office/officeart/2005/8/layout/lProcess3"/>
    <dgm:cxn modelId="{8F971C14-E5F3-468A-A22C-EBB1F8DD24F0}" type="presParOf" srcId="{45EA7D8B-06A2-48D6-AA48-5CDC39B06F5B}" destId="{8E5B6F18-6E6D-418E-9542-6E9362275DB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37FA29-BFFC-4815-A602-F0DDAC82B90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DABC51A-956E-4E63-94B8-B4E120DDF786}">
      <dgm:prSet/>
      <dgm:spPr/>
      <dgm:t>
        <a:bodyPr/>
        <a:lstStyle/>
        <a:p>
          <a:r>
            <a:rPr lang="en-IN"/>
            <a:t>Project using Excel</a:t>
          </a:r>
        </a:p>
      </dgm:t>
    </dgm:pt>
    <dgm:pt modelId="{DE03AAA8-14CC-4288-ABB5-9D4C3644908A}" type="parTrans" cxnId="{DE326865-CB87-4FCF-BC5B-99560255886B}">
      <dgm:prSet/>
      <dgm:spPr/>
      <dgm:t>
        <a:bodyPr/>
        <a:lstStyle/>
        <a:p>
          <a:endParaRPr lang="en-IN"/>
        </a:p>
      </dgm:t>
    </dgm:pt>
    <dgm:pt modelId="{88C0BBE3-1531-4760-BD87-5D9AFC8BF9DD}" type="sibTrans" cxnId="{DE326865-CB87-4FCF-BC5B-99560255886B}">
      <dgm:prSet/>
      <dgm:spPr/>
      <dgm:t>
        <a:bodyPr/>
        <a:lstStyle/>
        <a:p>
          <a:endParaRPr lang="en-IN"/>
        </a:p>
      </dgm:t>
    </dgm:pt>
    <dgm:pt modelId="{2E9BF10C-FDB9-4CD6-AAED-847CFE8E0143}">
      <dgm:prSet/>
      <dgm:spPr/>
      <dgm:t>
        <a:bodyPr/>
        <a:lstStyle/>
        <a:p>
          <a:r>
            <a:rPr lang="en-IN" dirty="0"/>
            <a:t>Name:</a:t>
          </a:r>
        </a:p>
        <a:p>
          <a:r>
            <a:rPr lang="en-IN" dirty="0"/>
            <a:t> Om Prakash</a:t>
          </a:r>
        </a:p>
      </dgm:t>
    </dgm:pt>
    <dgm:pt modelId="{728A9258-ACEA-42F1-ACF4-B87709DDEE1F}" type="parTrans" cxnId="{A35E3EF4-4B63-4DB1-988F-A92731BFD1AF}">
      <dgm:prSet/>
      <dgm:spPr/>
      <dgm:t>
        <a:bodyPr/>
        <a:lstStyle/>
        <a:p>
          <a:endParaRPr lang="en-IN"/>
        </a:p>
      </dgm:t>
    </dgm:pt>
    <dgm:pt modelId="{3CFC8437-E92A-4F0C-8718-85BBD58B6483}" type="sibTrans" cxnId="{A35E3EF4-4B63-4DB1-988F-A92731BFD1AF}">
      <dgm:prSet/>
      <dgm:spPr/>
      <dgm:t>
        <a:bodyPr/>
        <a:lstStyle/>
        <a:p>
          <a:endParaRPr lang="en-IN"/>
        </a:p>
      </dgm:t>
    </dgm:pt>
    <dgm:pt modelId="{F62CD94F-FAD2-47FB-BE3E-7E20D8AD43AB}" type="pres">
      <dgm:prSet presAssocID="{5E37FA29-BFFC-4815-A602-F0DDAC82B907}" presName="Name0" presStyleCnt="0">
        <dgm:presLayoutVars>
          <dgm:dir/>
          <dgm:resizeHandles val="exact"/>
        </dgm:presLayoutVars>
      </dgm:prSet>
      <dgm:spPr/>
    </dgm:pt>
    <dgm:pt modelId="{41D5C89E-2B17-4079-8D55-925159A152EA}" type="pres">
      <dgm:prSet presAssocID="{5E37FA29-BFFC-4815-A602-F0DDAC82B907}" presName="arrow" presStyleLbl="bgShp" presStyleIdx="0" presStyleCnt="1"/>
      <dgm:spPr/>
    </dgm:pt>
    <dgm:pt modelId="{19407360-E185-4FCF-9740-8C5AE8ED4746}" type="pres">
      <dgm:prSet presAssocID="{5E37FA29-BFFC-4815-A602-F0DDAC82B907}" presName="points" presStyleCnt="0"/>
      <dgm:spPr/>
    </dgm:pt>
    <dgm:pt modelId="{EC94E334-9EB8-4B6D-B5FF-ED3838EDCC1C}" type="pres">
      <dgm:prSet presAssocID="{1DABC51A-956E-4E63-94B8-B4E120DDF786}" presName="compositeA" presStyleCnt="0"/>
      <dgm:spPr/>
    </dgm:pt>
    <dgm:pt modelId="{967C0BDE-EFCD-47F8-A9FB-B6CE044C54F4}" type="pres">
      <dgm:prSet presAssocID="{1DABC51A-956E-4E63-94B8-B4E120DDF786}" presName="textA" presStyleLbl="revTx" presStyleIdx="0" presStyleCnt="2">
        <dgm:presLayoutVars>
          <dgm:bulletEnabled val="1"/>
        </dgm:presLayoutVars>
      </dgm:prSet>
      <dgm:spPr/>
    </dgm:pt>
    <dgm:pt modelId="{17E1FEBC-8413-448B-B7CA-929CD1218078}" type="pres">
      <dgm:prSet presAssocID="{1DABC51A-956E-4E63-94B8-B4E120DDF786}" presName="circleA" presStyleLbl="node1" presStyleIdx="0" presStyleCnt="2"/>
      <dgm:spPr/>
    </dgm:pt>
    <dgm:pt modelId="{7A9D01D7-9706-4C67-9952-C15453512C63}" type="pres">
      <dgm:prSet presAssocID="{1DABC51A-956E-4E63-94B8-B4E120DDF786}" presName="spaceA" presStyleCnt="0"/>
      <dgm:spPr/>
    </dgm:pt>
    <dgm:pt modelId="{8D38169F-A29F-4399-B77F-0A20D0FE64A9}" type="pres">
      <dgm:prSet presAssocID="{88C0BBE3-1531-4760-BD87-5D9AFC8BF9DD}" presName="space" presStyleCnt="0"/>
      <dgm:spPr/>
    </dgm:pt>
    <dgm:pt modelId="{8C35162C-A9B0-4C07-B2BF-9034F34FAD14}" type="pres">
      <dgm:prSet presAssocID="{2E9BF10C-FDB9-4CD6-AAED-847CFE8E0143}" presName="compositeB" presStyleCnt="0"/>
      <dgm:spPr/>
    </dgm:pt>
    <dgm:pt modelId="{2FDC9BDF-378A-4AEE-BE75-DAC090C3EF7C}" type="pres">
      <dgm:prSet presAssocID="{2E9BF10C-FDB9-4CD6-AAED-847CFE8E0143}" presName="textB" presStyleLbl="revTx" presStyleIdx="1" presStyleCnt="2" custScaleX="170932">
        <dgm:presLayoutVars>
          <dgm:bulletEnabled val="1"/>
        </dgm:presLayoutVars>
      </dgm:prSet>
      <dgm:spPr/>
    </dgm:pt>
    <dgm:pt modelId="{889EBE91-2F09-46BA-B0E5-BE4C478CFE39}" type="pres">
      <dgm:prSet presAssocID="{2E9BF10C-FDB9-4CD6-AAED-847CFE8E0143}" presName="circleB" presStyleLbl="node1" presStyleIdx="1" presStyleCnt="2"/>
      <dgm:spPr/>
    </dgm:pt>
    <dgm:pt modelId="{F4EEC563-C523-4C43-BE5A-28AF9C07B859}" type="pres">
      <dgm:prSet presAssocID="{2E9BF10C-FDB9-4CD6-AAED-847CFE8E0143}" presName="spaceB" presStyleCnt="0"/>
      <dgm:spPr/>
    </dgm:pt>
  </dgm:ptLst>
  <dgm:cxnLst>
    <dgm:cxn modelId="{72295321-36DE-4B45-8A50-F18328E532A7}" type="presOf" srcId="{5E37FA29-BFFC-4815-A602-F0DDAC82B907}" destId="{F62CD94F-FAD2-47FB-BE3E-7E20D8AD43AB}" srcOrd="0" destOrd="0" presId="urn:microsoft.com/office/officeart/2005/8/layout/hProcess11"/>
    <dgm:cxn modelId="{DE326865-CB87-4FCF-BC5B-99560255886B}" srcId="{5E37FA29-BFFC-4815-A602-F0DDAC82B907}" destId="{1DABC51A-956E-4E63-94B8-B4E120DDF786}" srcOrd="0" destOrd="0" parTransId="{DE03AAA8-14CC-4288-ABB5-9D4C3644908A}" sibTransId="{88C0BBE3-1531-4760-BD87-5D9AFC8BF9DD}"/>
    <dgm:cxn modelId="{74392853-87F3-42A4-9527-EDC4229C2490}" type="presOf" srcId="{2E9BF10C-FDB9-4CD6-AAED-847CFE8E0143}" destId="{2FDC9BDF-378A-4AEE-BE75-DAC090C3EF7C}" srcOrd="0" destOrd="0" presId="urn:microsoft.com/office/officeart/2005/8/layout/hProcess11"/>
    <dgm:cxn modelId="{A2284AD5-3F61-43D6-B0A6-915F18C5BF2F}" type="presOf" srcId="{1DABC51A-956E-4E63-94B8-B4E120DDF786}" destId="{967C0BDE-EFCD-47F8-A9FB-B6CE044C54F4}" srcOrd="0" destOrd="0" presId="urn:microsoft.com/office/officeart/2005/8/layout/hProcess11"/>
    <dgm:cxn modelId="{A35E3EF4-4B63-4DB1-988F-A92731BFD1AF}" srcId="{5E37FA29-BFFC-4815-A602-F0DDAC82B907}" destId="{2E9BF10C-FDB9-4CD6-AAED-847CFE8E0143}" srcOrd="1" destOrd="0" parTransId="{728A9258-ACEA-42F1-ACF4-B87709DDEE1F}" sibTransId="{3CFC8437-E92A-4F0C-8718-85BBD58B6483}"/>
    <dgm:cxn modelId="{B521A451-9C06-4148-B56B-46BAEDB37824}" type="presParOf" srcId="{F62CD94F-FAD2-47FB-BE3E-7E20D8AD43AB}" destId="{41D5C89E-2B17-4079-8D55-925159A152EA}" srcOrd="0" destOrd="0" presId="urn:microsoft.com/office/officeart/2005/8/layout/hProcess11"/>
    <dgm:cxn modelId="{DE60FD61-033A-4221-9908-8DCEB166B235}" type="presParOf" srcId="{F62CD94F-FAD2-47FB-BE3E-7E20D8AD43AB}" destId="{19407360-E185-4FCF-9740-8C5AE8ED4746}" srcOrd="1" destOrd="0" presId="urn:microsoft.com/office/officeart/2005/8/layout/hProcess11"/>
    <dgm:cxn modelId="{BAA3A662-542D-4909-8FEB-C14C5F2C2CFD}" type="presParOf" srcId="{19407360-E185-4FCF-9740-8C5AE8ED4746}" destId="{EC94E334-9EB8-4B6D-B5FF-ED3838EDCC1C}" srcOrd="0" destOrd="0" presId="urn:microsoft.com/office/officeart/2005/8/layout/hProcess11"/>
    <dgm:cxn modelId="{27E1AA7B-5B15-4F3B-81CE-018D728114B2}" type="presParOf" srcId="{EC94E334-9EB8-4B6D-B5FF-ED3838EDCC1C}" destId="{967C0BDE-EFCD-47F8-A9FB-B6CE044C54F4}" srcOrd="0" destOrd="0" presId="urn:microsoft.com/office/officeart/2005/8/layout/hProcess11"/>
    <dgm:cxn modelId="{261F152B-BD40-413B-AB13-8E2D250452EF}" type="presParOf" srcId="{EC94E334-9EB8-4B6D-B5FF-ED3838EDCC1C}" destId="{17E1FEBC-8413-448B-B7CA-929CD1218078}" srcOrd="1" destOrd="0" presId="urn:microsoft.com/office/officeart/2005/8/layout/hProcess11"/>
    <dgm:cxn modelId="{D16170F7-F2AB-423A-B92B-1DCAD79ECAC2}" type="presParOf" srcId="{EC94E334-9EB8-4B6D-B5FF-ED3838EDCC1C}" destId="{7A9D01D7-9706-4C67-9952-C15453512C63}" srcOrd="2" destOrd="0" presId="urn:microsoft.com/office/officeart/2005/8/layout/hProcess11"/>
    <dgm:cxn modelId="{9E2FA1B8-DA23-4F3F-8A0F-931DC01780C0}" type="presParOf" srcId="{19407360-E185-4FCF-9740-8C5AE8ED4746}" destId="{8D38169F-A29F-4399-B77F-0A20D0FE64A9}" srcOrd="1" destOrd="0" presId="urn:microsoft.com/office/officeart/2005/8/layout/hProcess11"/>
    <dgm:cxn modelId="{8FBE2957-FD1A-4276-8BFA-065783198039}" type="presParOf" srcId="{19407360-E185-4FCF-9740-8C5AE8ED4746}" destId="{8C35162C-A9B0-4C07-B2BF-9034F34FAD14}" srcOrd="2" destOrd="0" presId="urn:microsoft.com/office/officeart/2005/8/layout/hProcess11"/>
    <dgm:cxn modelId="{5DD3B5D6-89BE-4843-A14F-BEED6077F3FF}" type="presParOf" srcId="{8C35162C-A9B0-4C07-B2BF-9034F34FAD14}" destId="{2FDC9BDF-378A-4AEE-BE75-DAC090C3EF7C}" srcOrd="0" destOrd="0" presId="urn:microsoft.com/office/officeart/2005/8/layout/hProcess11"/>
    <dgm:cxn modelId="{E35EBAD0-9E2F-4748-8559-82FC1A6BED47}" type="presParOf" srcId="{8C35162C-A9B0-4C07-B2BF-9034F34FAD14}" destId="{889EBE91-2F09-46BA-B0E5-BE4C478CFE39}" srcOrd="1" destOrd="0" presId="urn:microsoft.com/office/officeart/2005/8/layout/hProcess11"/>
    <dgm:cxn modelId="{6C46F22E-3B91-42CA-AA3A-9324E60013A2}" type="presParOf" srcId="{8C35162C-A9B0-4C07-B2BF-9034F34FAD14}" destId="{F4EEC563-C523-4C43-BE5A-28AF9C07B85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500E5B-BBA7-435B-B143-DA17C7AE3E5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9F4E15E-953D-450C-B538-0A254270444A}">
      <dgm:prSet custT="1"/>
      <dgm:spPr/>
      <dgm:t>
        <a:bodyPr/>
        <a:lstStyle/>
        <a:p>
          <a:pPr algn="l"/>
          <a:r>
            <a:rPr lang="en-IN" sz="2800" dirty="0"/>
            <a:t>Content</a:t>
          </a:r>
        </a:p>
      </dgm:t>
    </dgm:pt>
    <dgm:pt modelId="{F97BA7CC-9E27-4440-B5F4-6619AC02EAA6}" type="parTrans" cxnId="{600C74DE-A88F-4D22-BFCE-614B1DE96650}">
      <dgm:prSet/>
      <dgm:spPr/>
      <dgm:t>
        <a:bodyPr/>
        <a:lstStyle/>
        <a:p>
          <a:endParaRPr lang="en-IN"/>
        </a:p>
      </dgm:t>
    </dgm:pt>
    <dgm:pt modelId="{9A4D5142-BCA1-4BCD-95A0-257362C5AC16}" type="sibTrans" cxnId="{600C74DE-A88F-4D22-BFCE-614B1DE96650}">
      <dgm:prSet/>
      <dgm:spPr/>
      <dgm:t>
        <a:bodyPr/>
        <a:lstStyle/>
        <a:p>
          <a:endParaRPr lang="en-IN"/>
        </a:p>
      </dgm:t>
    </dgm:pt>
    <dgm:pt modelId="{AFB6F1DC-B7C4-4BE0-A1EB-75B26C07AD5D}" type="pres">
      <dgm:prSet presAssocID="{E7500E5B-BBA7-435B-B143-DA17C7AE3E5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5BFA681-31A8-4FB1-A964-19F26A68C445}" type="pres">
      <dgm:prSet presAssocID="{39F4E15E-953D-450C-B538-0A254270444A}" presName="horFlow" presStyleCnt="0"/>
      <dgm:spPr/>
    </dgm:pt>
    <dgm:pt modelId="{DCD351EE-9229-4515-AF96-E3134672C123}" type="pres">
      <dgm:prSet presAssocID="{39F4E15E-953D-450C-B538-0A254270444A}" presName="bigChev" presStyleLbl="node1" presStyleIdx="0" presStyleCnt="1" custScaleX="75351" custScaleY="67260" custLinFactNeighborX="-12440" custLinFactNeighborY="-1085"/>
      <dgm:spPr/>
    </dgm:pt>
  </dgm:ptLst>
  <dgm:cxnLst>
    <dgm:cxn modelId="{600C74DE-A88F-4D22-BFCE-614B1DE96650}" srcId="{E7500E5B-BBA7-435B-B143-DA17C7AE3E54}" destId="{39F4E15E-953D-450C-B538-0A254270444A}" srcOrd="0" destOrd="0" parTransId="{F97BA7CC-9E27-4440-B5F4-6619AC02EAA6}" sibTransId="{9A4D5142-BCA1-4BCD-95A0-257362C5AC16}"/>
    <dgm:cxn modelId="{79E846E1-7C85-44FD-9EE0-95D356DC2BAF}" type="presOf" srcId="{E7500E5B-BBA7-435B-B143-DA17C7AE3E54}" destId="{AFB6F1DC-B7C4-4BE0-A1EB-75B26C07AD5D}" srcOrd="0" destOrd="0" presId="urn:microsoft.com/office/officeart/2005/8/layout/lProcess3"/>
    <dgm:cxn modelId="{A96495F2-8DEC-4929-98C5-70F41A845053}" type="presOf" srcId="{39F4E15E-953D-450C-B538-0A254270444A}" destId="{DCD351EE-9229-4515-AF96-E3134672C123}" srcOrd="0" destOrd="0" presId="urn:microsoft.com/office/officeart/2005/8/layout/lProcess3"/>
    <dgm:cxn modelId="{FAA1AD75-3851-4AD1-9FF6-365710A37C57}" type="presParOf" srcId="{AFB6F1DC-B7C4-4BE0-A1EB-75B26C07AD5D}" destId="{F5BFA681-31A8-4FB1-A964-19F26A68C445}" srcOrd="0" destOrd="0" presId="urn:microsoft.com/office/officeart/2005/8/layout/lProcess3"/>
    <dgm:cxn modelId="{3667A96E-AAD2-4BC3-AE66-F91079412A29}" type="presParOf" srcId="{F5BFA681-31A8-4FB1-A964-19F26A68C445}" destId="{DCD351EE-9229-4515-AF96-E3134672C12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500E5B-BBA7-435B-B143-DA17C7AE3E5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9F4E15E-953D-450C-B538-0A254270444A}">
      <dgm:prSet custT="1"/>
      <dgm:spPr/>
      <dgm:t>
        <a:bodyPr/>
        <a:lstStyle/>
        <a:p>
          <a:pPr algn="l"/>
          <a:r>
            <a:rPr lang="en-IN" sz="2800" dirty="0"/>
            <a:t>Introduction</a:t>
          </a:r>
        </a:p>
      </dgm:t>
    </dgm:pt>
    <dgm:pt modelId="{F97BA7CC-9E27-4440-B5F4-6619AC02EAA6}" type="parTrans" cxnId="{600C74DE-A88F-4D22-BFCE-614B1DE96650}">
      <dgm:prSet/>
      <dgm:spPr/>
      <dgm:t>
        <a:bodyPr/>
        <a:lstStyle/>
        <a:p>
          <a:endParaRPr lang="en-IN"/>
        </a:p>
      </dgm:t>
    </dgm:pt>
    <dgm:pt modelId="{9A4D5142-BCA1-4BCD-95A0-257362C5AC16}" type="sibTrans" cxnId="{600C74DE-A88F-4D22-BFCE-614B1DE96650}">
      <dgm:prSet/>
      <dgm:spPr/>
      <dgm:t>
        <a:bodyPr/>
        <a:lstStyle/>
        <a:p>
          <a:endParaRPr lang="en-IN"/>
        </a:p>
      </dgm:t>
    </dgm:pt>
    <dgm:pt modelId="{AFB6F1DC-B7C4-4BE0-A1EB-75B26C07AD5D}" type="pres">
      <dgm:prSet presAssocID="{E7500E5B-BBA7-435B-B143-DA17C7AE3E5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5BFA681-31A8-4FB1-A964-19F26A68C445}" type="pres">
      <dgm:prSet presAssocID="{39F4E15E-953D-450C-B538-0A254270444A}" presName="horFlow" presStyleCnt="0"/>
      <dgm:spPr/>
    </dgm:pt>
    <dgm:pt modelId="{DCD351EE-9229-4515-AF96-E3134672C123}" type="pres">
      <dgm:prSet presAssocID="{39F4E15E-953D-450C-B538-0A254270444A}" presName="bigChev" presStyleLbl="node1" presStyleIdx="0" presStyleCnt="1" custScaleX="144338"/>
      <dgm:spPr/>
    </dgm:pt>
  </dgm:ptLst>
  <dgm:cxnLst>
    <dgm:cxn modelId="{600C74DE-A88F-4D22-BFCE-614B1DE96650}" srcId="{E7500E5B-BBA7-435B-B143-DA17C7AE3E54}" destId="{39F4E15E-953D-450C-B538-0A254270444A}" srcOrd="0" destOrd="0" parTransId="{F97BA7CC-9E27-4440-B5F4-6619AC02EAA6}" sibTransId="{9A4D5142-BCA1-4BCD-95A0-257362C5AC16}"/>
    <dgm:cxn modelId="{79E846E1-7C85-44FD-9EE0-95D356DC2BAF}" type="presOf" srcId="{E7500E5B-BBA7-435B-B143-DA17C7AE3E54}" destId="{AFB6F1DC-B7C4-4BE0-A1EB-75B26C07AD5D}" srcOrd="0" destOrd="0" presId="urn:microsoft.com/office/officeart/2005/8/layout/lProcess3"/>
    <dgm:cxn modelId="{A96495F2-8DEC-4929-98C5-70F41A845053}" type="presOf" srcId="{39F4E15E-953D-450C-B538-0A254270444A}" destId="{DCD351EE-9229-4515-AF96-E3134672C123}" srcOrd="0" destOrd="0" presId="urn:microsoft.com/office/officeart/2005/8/layout/lProcess3"/>
    <dgm:cxn modelId="{FAA1AD75-3851-4AD1-9FF6-365710A37C57}" type="presParOf" srcId="{AFB6F1DC-B7C4-4BE0-A1EB-75B26C07AD5D}" destId="{F5BFA681-31A8-4FB1-A964-19F26A68C445}" srcOrd="0" destOrd="0" presId="urn:microsoft.com/office/officeart/2005/8/layout/lProcess3"/>
    <dgm:cxn modelId="{3667A96E-AAD2-4BC3-AE66-F91079412A29}" type="presParOf" srcId="{F5BFA681-31A8-4FB1-A964-19F26A68C445}" destId="{DCD351EE-9229-4515-AF96-E3134672C12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F0F678-B25B-4D38-B1A5-EDC08ED2A50F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2B8FA6-ACDB-45BE-A121-25B82042E598}">
      <dgm:prSet custT="1"/>
      <dgm:spPr/>
      <dgm:t>
        <a:bodyPr/>
        <a:lstStyle/>
        <a:p>
          <a:r>
            <a:rPr lang="en-IN" sz="2800" dirty="0"/>
            <a:t>Problem Statement</a:t>
          </a:r>
        </a:p>
      </dgm:t>
    </dgm:pt>
    <dgm:pt modelId="{54065321-9B40-468F-8E6B-123975BE1BB4}" type="parTrans" cxnId="{C284224C-95C7-48E7-8EA7-C29446F7A175}">
      <dgm:prSet/>
      <dgm:spPr/>
      <dgm:t>
        <a:bodyPr/>
        <a:lstStyle/>
        <a:p>
          <a:endParaRPr lang="en-IN"/>
        </a:p>
      </dgm:t>
    </dgm:pt>
    <dgm:pt modelId="{8E40E6A7-D812-4E55-A0F3-37B664F73B3D}" type="sibTrans" cxnId="{C284224C-95C7-48E7-8EA7-C29446F7A175}">
      <dgm:prSet/>
      <dgm:spPr/>
      <dgm:t>
        <a:bodyPr/>
        <a:lstStyle/>
        <a:p>
          <a:endParaRPr lang="en-IN"/>
        </a:p>
      </dgm:t>
    </dgm:pt>
    <dgm:pt modelId="{769102E1-FC5D-4365-AB41-CB375BE2575F}" type="pres">
      <dgm:prSet presAssocID="{25F0F678-B25B-4D38-B1A5-EDC08ED2A50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F7CFBD4-168F-4C1E-83D4-C2CD6E67B7E0}" type="pres">
      <dgm:prSet presAssocID="{712B8FA6-ACDB-45BE-A121-25B82042E598}" presName="horFlow" presStyleCnt="0"/>
      <dgm:spPr/>
    </dgm:pt>
    <dgm:pt modelId="{BF4244E1-A446-48B1-81A0-4DA2C37CD022}" type="pres">
      <dgm:prSet presAssocID="{712B8FA6-ACDB-45BE-A121-25B82042E598}" presName="bigChev" presStyleLbl="node1" presStyleIdx="0" presStyleCnt="1" custScaleX="145993"/>
      <dgm:spPr/>
    </dgm:pt>
  </dgm:ptLst>
  <dgm:cxnLst>
    <dgm:cxn modelId="{0F399E17-2672-4E39-9853-F2D11E5B3D58}" type="presOf" srcId="{712B8FA6-ACDB-45BE-A121-25B82042E598}" destId="{BF4244E1-A446-48B1-81A0-4DA2C37CD022}" srcOrd="0" destOrd="0" presId="urn:microsoft.com/office/officeart/2005/8/layout/lProcess3"/>
    <dgm:cxn modelId="{C284224C-95C7-48E7-8EA7-C29446F7A175}" srcId="{25F0F678-B25B-4D38-B1A5-EDC08ED2A50F}" destId="{712B8FA6-ACDB-45BE-A121-25B82042E598}" srcOrd="0" destOrd="0" parTransId="{54065321-9B40-468F-8E6B-123975BE1BB4}" sibTransId="{8E40E6A7-D812-4E55-A0F3-37B664F73B3D}"/>
    <dgm:cxn modelId="{C63B87D0-BCFE-46CA-929B-E0AFDCB0A8E9}" type="presOf" srcId="{25F0F678-B25B-4D38-B1A5-EDC08ED2A50F}" destId="{769102E1-FC5D-4365-AB41-CB375BE2575F}" srcOrd="0" destOrd="0" presId="urn:microsoft.com/office/officeart/2005/8/layout/lProcess3"/>
    <dgm:cxn modelId="{B1F13223-6D69-4EF3-89EA-1CAF653D1361}" type="presParOf" srcId="{769102E1-FC5D-4365-AB41-CB375BE2575F}" destId="{DF7CFBD4-168F-4C1E-83D4-C2CD6E67B7E0}" srcOrd="0" destOrd="0" presId="urn:microsoft.com/office/officeart/2005/8/layout/lProcess3"/>
    <dgm:cxn modelId="{F8FC12DB-816A-4427-9984-4747D7B579E8}" type="presParOf" srcId="{DF7CFBD4-168F-4C1E-83D4-C2CD6E67B7E0}" destId="{BF4244E1-A446-48B1-81A0-4DA2C37CD02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157E10-5B39-4D19-BFDE-FEB52CC31DB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0AD2CC-53FE-4869-A91A-6D5036F8AC55}">
      <dgm:prSet custT="1"/>
      <dgm:spPr/>
      <dgm:t>
        <a:bodyPr/>
        <a:lstStyle/>
        <a:p>
          <a:r>
            <a:rPr lang="en-IN" sz="2800" dirty="0"/>
            <a:t>Dataset Description</a:t>
          </a:r>
        </a:p>
      </dgm:t>
    </dgm:pt>
    <dgm:pt modelId="{974ECA06-0426-4DF6-8440-D4293CA0DB1A}" type="parTrans" cxnId="{D7DC0DEF-6296-496A-95C1-7ECB440E4B9A}">
      <dgm:prSet/>
      <dgm:spPr/>
      <dgm:t>
        <a:bodyPr/>
        <a:lstStyle/>
        <a:p>
          <a:endParaRPr lang="en-IN"/>
        </a:p>
      </dgm:t>
    </dgm:pt>
    <dgm:pt modelId="{1499F50F-12BB-465B-87DF-0F3285DF09B4}" type="sibTrans" cxnId="{D7DC0DEF-6296-496A-95C1-7ECB440E4B9A}">
      <dgm:prSet/>
      <dgm:spPr/>
      <dgm:t>
        <a:bodyPr/>
        <a:lstStyle/>
        <a:p>
          <a:endParaRPr lang="en-IN"/>
        </a:p>
      </dgm:t>
    </dgm:pt>
    <dgm:pt modelId="{0F404A3E-36C6-40C7-94F0-2647F73C0BA5}" type="pres">
      <dgm:prSet presAssocID="{F7157E10-5B39-4D19-BFDE-FEB52CC31DB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E4B5396-F459-4612-AE82-547CF8EDDD65}" type="pres">
      <dgm:prSet presAssocID="{F80AD2CC-53FE-4869-A91A-6D5036F8AC55}" presName="horFlow" presStyleCnt="0"/>
      <dgm:spPr/>
    </dgm:pt>
    <dgm:pt modelId="{F6BDB44B-1805-4B94-8F19-885460D39214}" type="pres">
      <dgm:prSet presAssocID="{F80AD2CC-53FE-4869-A91A-6D5036F8AC55}" presName="bigChev" presStyleLbl="node1" presStyleIdx="0" presStyleCnt="1" custScaleX="152615"/>
      <dgm:spPr/>
    </dgm:pt>
  </dgm:ptLst>
  <dgm:cxnLst>
    <dgm:cxn modelId="{1E34DF08-D590-4EDC-A345-D38D13148AAF}" type="presOf" srcId="{F7157E10-5B39-4D19-BFDE-FEB52CC31DBC}" destId="{0F404A3E-36C6-40C7-94F0-2647F73C0BA5}" srcOrd="0" destOrd="0" presId="urn:microsoft.com/office/officeart/2005/8/layout/lProcess3"/>
    <dgm:cxn modelId="{BF75DB6D-9C18-4E83-8668-1DF9268B03FB}" type="presOf" srcId="{F80AD2CC-53FE-4869-A91A-6D5036F8AC55}" destId="{F6BDB44B-1805-4B94-8F19-885460D39214}" srcOrd="0" destOrd="0" presId="urn:microsoft.com/office/officeart/2005/8/layout/lProcess3"/>
    <dgm:cxn modelId="{D7DC0DEF-6296-496A-95C1-7ECB440E4B9A}" srcId="{F7157E10-5B39-4D19-BFDE-FEB52CC31DBC}" destId="{F80AD2CC-53FE-4869-A91A-6D5036F8AC55}" srcOrd="0" destOrd="0" parTransId="{974ECA06-0426-4DF6-8440-D4293CA0DB1A}" sibTransId="{1499F50F-12BB-465B-87DF-0F3285DF09B4}"/>
    <dgm:cxn modelId="{9BD588C4-078F-4309-BDDA-875B9BE2A7AB}" type="presParOf" srcId="{0F404A3E-36C6-40C7-94F0-2647F73C0BA5}" destId="{EE4B5396-F459-4612-AE82-547CF8EDDD65}" srcOrd="0" destOrd="0" presId="urn:microsoft.com/office/officeart/2005/8/layout/lProcess3"/>
    <dgm:cxn modelId="{D4748B1A-93CE-47EC-BC1B-E84D01A3ADF8}" type="presParOf" srcId="{EE4B5396-F459-4612-AE82-547CF8EDDD65}" destId="{F6BDB44B-1805-4B94-8F19-885460D3921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9B4B80-C01A-4834-B40D-F0A97FA0195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7193ED-6775-4F61-B853-5E4B7C8D6380}">
      <dgm:prSet custT="1"/>
      <dgm:spPr/>
      <dgm:t>
        <a:bodyPr/>
        <a:lstStyle/>
        <a:p>
          <a:r>
            <a:rPr lang="en-IN" sz="2800" dirty="0"/>
            <a:t>Data Preparation </a:t>
          </a:r>
        </a:p>
      </dgm:t>
    </dgm:pt>
    <dgm:pt modelId="{EEB025C2-D16F-4BCA-B38E-84A42DF2415D}" type="parTrans" cxnId="{A63BE811-5211-4C74-B932-02C7153E88E2}">
      <dgm:prSet/>
      <dgm:spPr/>
      <dgm:t>
        <a:bodyPr/>
        <a:lstStyle/>
        <a:p>
          <a:endParaRPr lang="en-IN"/>
        </a:p>
      </dgm:t>
    </dgm:pt>
    <dgm:pt modelId="{91B36C41-8574-4911-A5C9-8B8A1C393DE2}" type="sibTrans" cxnId="{A63BE811-5211-4C74-B932-02C7153E88E2}">
      <dgm:prSet/>
      <dgm:spPr/>
      <dgm:t>
        <a:bodyPr/>
        <a:lstStyle/>
        <a:p>
          <a:endParaRPr lang="en-IN"/>
        </a:p>
      </dgm:t>
    </dgm:pt>
    <dgm:pt modelId="{26751CE2-A598-4D19-81C7-F2F79CFDBAA2}" type="pres">
      <dgm:prSet presAssocID="{BE9B4B80-C01A-4834-B40D-F0A97FA0195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A3DC0ABB-4D4D-4078-BBD1-8F4CD93E2690}" type="pres">
      <dgm:prSet presAssocID="{ED7193ED-6775-4F61-B853-5E4B7C8D6380}" presName="horFlow" presStyleCnt="0"/>
      <dgm:spPr/>
    </dgm:pt>
    <dgm:pt modelId="{096A5903-7331-4E73-B30F-2E3B51F767D5}" type="pres">
      <dgm:prSet presAssocID="{ED7193ED-6775-4F61-B853-5E4B7C8D6380}" presName="bigChev" presStyleLbl="node1" presStyleIdx="0" presStyleCnt="1" custScaleX="140613"/>
      <dgm:spPr/>
    </dgm:pt>
  </dgm:ptLst>
  <dgm:cxnLst>
    <dgm:cxn modelId="{A63BE811-5211-4C74-B932-02C7153E88E2}" srcId="{BE9B4B80-C01A-4834-B40D-F0A97FA01955}" destId="{ED7193ED-6775-4F61-B853-5E4B7C8D6380}" srcOrd="0" destOrd="0" parTransId="{EEB025C2-D16F-4BCA-B38E-84A42DF2415D}" sibTransId="{91B36C41-8574-4911-A5C9-8B8A1C393DE2}"/>
    <dgm:cxn modelId="{D7854936-7742-4ACA-8938-DACA8C40AD0B}" type="presOf" srcId="{BE9B4B80-C01A-4834-B40D-F0A97FA01955}" destId="{26751CE2-A598-4D19-81C7-F2F79CFDBAA2}" srcOrd="0" destOrd="0" presId="urn:microsoft.com/office/officeart/2005/8/layout/lProcess3"/>
    <dgm:cxn modelId="{6AE5FE36-97F5-4A57-9761-93102DEE2348}" type="presOf" srcId="{ED7193ED-6775-4F61-B853-5E4B7C8D6380}" destId="{096A5903-7331-4E73-B30F-2E3B51F767D5}" srcOrd="0" destOrd="0" presId="urn:microsoft.com/office/officeart/2005/8/layout/lProcess3"/>
    <dgm:cxn modelId="{7D1E4A14-3DC5-4A86-8481-F53A665C2D9E}" type="presParOf" srcId="{26751CE2-A598-4D19-81C7-F2F79CFDBAA2}" destId="{A3DC0ABB-4D4D-4078-BBD1-8F4CD93E2690}" srcOrd="0" destOrd="0" presId="urn:microsoft.com/office/officeart/2005/8/layout/lProcess3"/>
    <dgm:cxn modelId="{0C2BA272-CB2D-491E-921C-B643C4DAEC02}" type="presParOf" srcId="{A3DC0ABB-4D4D-4078-BBD1-8F4CD93E2690}" destId="{096A5903-7331-4E73-B30F-2E3B51F767D5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35C0E1E-0410-405A-82A8-90F59E5800A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0942DD-105A-4269-AAD8-6C7C23EAE2A8}">
      <dgm:prSet custT="1"/>
      <dgm:spPr/>
      <dgm:t>
        <a:bodyPr/>
        <a:lstStyle/>
        <a:p>
          <a:r>
            <a:rPr lang="en-IN" sz="2800" dirty="0"/>
            <a:t>Data Merging</a:t>
          </a:r>
        </a:p>
      </dgm:t>
    </dgm:pt>
    <dgm:pt modelId="{26E4168C-0DC4-4C7E-A2D5-98823181B2A6}" type="parTrans" cxnId="{3C54C1C7-B057-4AC2-BFE2-F5FDDDA43D97}">
      <dgm:prSet/>
      <dgm:spPr/>
      <dgm:t>
        <a:bodyPr/>
        <a:lstStyle/>
        <a:p>
          <a:endParaRPr lang="en-IN"/>
        </a:p>
      </dgm:t>
    </dgm:pt>
    <dgm:pt modelId="{0DA6B68B-2D10-445A-8989-E7D97536E1B1}" type="sibTrans" cxnId="{3C54C1C7-B057-4AC2-BFE2-F5FDDDA43D97}">
      <dgm:prSet/>
      <dgm:spPr/>
      <dgm:t>
        <a:bodyPr/>
        <a:lstStyle/>
        <a:p>
          <a:endParaRPr lang="en-IN"/>
        </a:p>
      </dgm:t>
    </dgm:pt>
    <dgm:pt modelId="{D26A4553-9E97-4573-8DAF-3B66748E6D74}" type="pres">
      <dgm:prSet presAssocID="{235C0E1E-0410-405A-82A8-90F59E5800A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F53EBD2-4719-4B27-A63F-7EB196F44856}" type="pres">
      <dgm:prSet presAssocID="{930942DD-105A-4269-AAD8-6C7C23EAE2A8}" presName="horFlow" presStyleCnt="0"/>
      <dgm:spPr/>
    </dgm:pt>
    <dgm:pt modelId="{73E363AE-8F18-4100-8212-0471500A8A64}" type="pres">
      <dgm:prSet presAssocID="{930942DD-105A-4269-AAD8-6C7C23EAE2A8}" presName="bigChev" presStyleLbl="node1" presStyleIdx="0" presStyleCnt="1" custScaleX="144752"/>
      <dgm:spPr/>
    </dgm:pt>
  </dgm:ptLst>
  <dgm:cxnLst>
    <dgm:cxn modelId="{EAFD5596-7E52-4DC7-9512-56781EBD234A}" type="presOf" srcId="{930942DD-105A-4269-AAD8-6C7C23EAE2A8}" destId="{73E363AE-8F18-4100-8212-0471500A8A64}" srcOrd="0" destOrd="0" presId="urn:microsoft.com/office/officeart/2005/8/layout/lProcess3"/>
    <dgm:cxn modelId="{3C54C1C7-B057-4AC2-BFE2-F5FDDDA43D97}" srcId="{235C0E1E-0410-405A-82A8-90F59E5800AC}" destId="{930942DD-105A-4269-AAD8-6C7C23EAE2A8}" srcOrd="0" destOrd="0" parTransId="{26E4168C-0DC4-4C7E-A2D5-98823181B2A6}" sibTransId="{0DA6B68B-2D10-445A-8989-E7D97536E1B1}"/>
    <dgm:cxn modelId="{A872C1FB-C759-4204-A95A-4EFFE4F41A6D}" type="presOf" srcId="{235C0E1E-0410-405A-82A8-90F59E5800AC}" destId="{D26A4553-9E97-4573-8DAF-3B66748E6D74}" srcOrd="0" destOrd="0" presId="urn:microsoft.com/office/officeart/2005/8/layout/lProcess3"/>
    <dgm:cxn modelId="{ABE5B3DF-40CD-48F6-8278-3CDC023C44BC}" type="presParOf" srcId="{D26A4553-9E97-4573-8DAF-3B66748E6D74}" destId="{EF53EBD2-4719-4B27-A63F-7EB196F44856}" srcOrd="0" destOrd="0" presId="urn:microsoft.com/office/officeart/2005/8/layout/lProcess3"/>
    <dgm:cxn modelId="{DA027D9B-D10C-4B8C-8879-8C099188AFCF}" type="presParOf" srcId="{EF53EBD2-4719-4B27-A63F-7EB196F44856}" destId="{73E363AE-8F18-4100-8212-0471500A8A6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E1E7BB-B9E7-4F25-B0F4-AABA522558F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0B805AF-5BC9-40AA-9028-8F3E34840FA2}">
      <dgm:prSet custT="1"/>
      <dgm:spPr/>
      <dgm:t>
        <a:bodyPr/>
        <a:lstStyle/>
        <a:p>
          <a:r>
            <a:rPr lang="en-IN" sz="2800" dirty="0"/>
            <a:t>Data Analysis</a:t>
          </a:r>
        </a:p>
      </dgm:t>
    </dgm:pt>
    <dgm:pt modelId="{19B3ED99-EF54-44C8-ACE9-D0CDF7CAB310}" type="parTrans" cxnId="{AB2FB89C-CA78-4E85-B30B-8DEE22ADDCAD}">
      <dgm:prSet/>
      <dgm:spPr/>
      <dgm:t>
        <a:bodyPr/>
        <a:lstStyle/>
        <a:p>
          <a:endParaRPr lang="en-IN"/>
        </a:p>
      </dgm:t>
    </dgm:pt>
    <dgm:pt modelId="{02B424DD-D06D-4FE2-9973-E0D38B9434C3}" type="sibTrans" cxnId="{AB2FB89C-CA78-4E85-B30B-8DEE22ADDCAD}">
      <dgm:prSet/>
      <dgm:spPr/>
      <dgm:t>
        <a:bodyPr/>
        <a:lstStyle/>
        <a:p>
          <a:endParaRPr lang="en-IN"/>
        </a:p>
      </dgm:t>
    </dgm:pt>
    <dgm:pt modelId="{16877740-8E2B-428C-B315-A8689B7A4F63}" type="pres">
      <dgm:prSet presAssocID="{24E1E7BB-B9E7-4F25-B0F4-AABA522558F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BA3C058-D0EF-46BB-B0A7-B2311DB11FEA}" type="pres">
      <dgm:prSet presAssocID="{A0B805AF-5BC9-40AA-9028-8F3E34840FA2}" presName="horFlow" presStyleCnt="0"/>
      <dgm:spPr/>
    </dgm:pt>
    <dgm:pt modelId="{195CE5AA-B36E-4FA6-8E9F-E8B856188CFC}" type="pres">
      <dgm:prSet presAssocID="{A0B805AF-5BC9-40AA-9028-8F3E34840FA2}" presName="bigChev" presStyleLbl="node1" presStyleIdx="0" presStyleCnt="1" custScaleX="144752"/>
      <dgm:spPr/>
    </dgm:pt>
  </dgm:ptLst>
  <dgm:cxnLst>
    <dgm:cxn modelId="{65024328-70D0-41D8-8477-DCC0673F595A}" type="presOf" srcId="{A0B805AF-5BC9-40AA-9028-8F3E34840FA2}" destId="{195CE5AA-B36E-4FA6-8E9F-E8B856188CFC}" srcOrd="0" destOrd="0" presId="urn:microsoft.com/office/officeart/2005/8/layout/lProcess3"/>
    <dgm:cxn modelId="{B31F8A74-4ECC-4C46-B126-966706D408B2}" type="presOf" srcId="{24E1E7BB-B9E7-4F25-B0F4-AABA522558FA}" destId="{16877740-8E2B-428C-B315-A8689B7A4F63}" srcOrd="0" destOrd="0" presId="urn:microsoft.com/office/officeart/2005/8/layout/lProcess3"/>
    <dgm:cxn modelId="{AB2FB89C-CA78-4E85-B30B-8DEE22ADDCAD}" srcId="{24E1E7BB-B9E7-4F25-B0F4-AABA522558FA}" destId="{A0B805AF-5BC9-40AA-9028-8F3E34840FA2}" srcOrd="0" destOrd="0" parTransId="{19B3ED99-EF54-44C8-ACE9-D0CDF7CAB310}" sibTransId="{02B424DD-D06D-4FE2-9973-E0D38B9434C3}"/>
    <dgm:cxn modelId="{5010CD16-8C5E-45F5-9B1D-C6F068C67E64}" type="presParOf" srcId="{16877740-8E2B-428C-B315-A8689B7A4F63}" destId="{FBA3C058-D0EF-46BB-B0A7-B2311DB11FEA}" srcOrd="0" destOrd="0" presId="urn:microsoft.com/office/officeart/2005/8/layout/lProcess3"/>
    <dgm:cxn modelId="{23912633-8158-4C49-9B9B-3A4BFEF58933}" type="presParOf" srcId="{FBA3C058-D0EF-46BB-B0A7-B2311DB11FEA}" destId="{195CE5AA-B36E-4FA6-8E9F-E8B856188CF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C0AE379-0679-4762-9EBE-7FE4264E36BF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BDC64E-9599-447E-AE86-3E8EDBF1964C}">
      <dgm:prSet custT="1"/>
      <dgm:spPr/>
      <dgm:t>
        <a:bodyPr/>
        <a:lstStyle/>
        <a:p>
          <a:r>
            <a:rPr lang="en-IN" sz="2800" dirty="0"/>
            <a:t>Correlation analysis</a:t>
          </a:r>
        </a:p>
      </dgm:t>
    </dgm:pt>
    <dgm:pt modelId="{386D3CF6-A129-4CEF-BEDF-427018D4C8E7}" type="parTrans" cxnId="{6FBB3261-2518-46E0-B01C-87B1D3298EFB}">
      <dgm:prSet/>
      <dgm:spPr/>
      <dgm:t>
        <a:bodyPr/>
        <a:lstStyle/>
        <a:p>
          <a:endParaRPr lang="en-IN"/>
        </a:p>
      </dgm:t>
    </dgm:pt>
    <dgm:pt modelId="{F7FC2DF0-03A1-481D-B383-3CE4234B02AD}" type="sibTrans" cxnId="{6FBB3261-2518-46E0-B01C-87B1D3298EFB}">
      <dgm:prSet/>
      <dgm:spPr/>
      <dgm:t>
        <a:bodyPr/>
        <a:lstStyle/>
        <a:p>
          <a:endParaRPr lang="en-IN"/>
        </a:p>
      </dgm:t>
    </dgm:pt>
    <dgm:pt modelId="{05762EB8-A577-49CD-961B-4BDCF208B44D}" type="pres">
      <dgm:prSet presAssocID="{DC0AE379-0679-4762-9EBE-7FE4264E36B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20660A2-782E-4E3C-95D7-C67FFC808A49}" type="pres">
      <dgm:prSet presAssocID="{F8BDC64E-9599-447E-AE86-3E8EDBF1964C}" presName="horFlow" presStyleCnt="0"/>
      <dgm:spPr/>
    </dgm:pt>
    <dgm:pt modelId="{BC68FDDE-07E2-4612-8056-11670077C166}" type="pres">
      <dgm:prSet presAssocID="{F8BDC64E-9599-447E-AE86-3E8EDBF1964C}" presName="bigChev" presStyleLbl="node1" presStyleIdx="0" presStyleCnt="1" custScaleX="141441"/>
      <dgm:spPr/>
    </dgm:pt>
  </dgm:ptLst>
  <dgm:cxnLst>
    <dgm:cxn modelId="{6FBB3261-2518-46E0-B01C-87B1D3298EFB}" srcId="{DC0AE379-0679-4762-9EBE-7FE4264E36BF}" destId="{F8BDC64E-9599-447E-AE86-3E8EDBF1964C}" srcOrd="0" destOrd="0" parTransId="{386D3CF6-A129-4CEF-BEDF-427018D4C8E7}" sibTransId="{F7FC2DF0-03A1-481D-B383-3CE4234B02AD}"/>
    <dgm:cxn modelId="{ECB0414A-D1C1-4DCB-8744-D03F8D8D14BD}" type="presOf" srcId="{F8BDC64E-9599-447E-AE86-3E8EDBF1964C}" destId="{BC68FDDE-07E2-4612-8056-11670077C166}" srcOrd="0" destOrd="0" presId="urn:microsoft.com/office/officeart/2005/8/layout/lProcess3"/>
    <dgm:cxn modelId="{A76D9E4D-334C-4A94-B90B-54E0C0F051DB}" type="presOf" srcId="{DC0AE379-0679-4762-9EBE-7FE4264E36BF}" destId="{05762EB8-A577-49CD-961B-4BDCF208B44D}" srcOrd="0" destOrd="0" presId="urn:microsoft.com/office/officeart/2005/8/layout/lProcess3"/>
    <dgm:cxn modelId="{068E3C88-B271-4105-A5D5-FEF1F751E41D}" type="presParOf" srcId="{05762EB8-A577-49CD-961B-4BDCF208B44D}" destId="{820660A2-782E-4E3C-95D7-C67FFC808A49}" srcOrd="0" destOrd="0" presId="urn:microsoft.com/office/officeart/2005/8/layout/lProcess3"/>
    <dgm:cxn modelId="{DCBBCC57-DC99-4123-A5AE-D02C65A73171}" type="presParOf" srcId="{820660A2-782E-4E3C-95D7-C67FFC808A49}" destId="{BC68FDDE-07E2-4612-8056-11670077C16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BD3F50-E575-4683-9074-502FCC0CC4E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CB5A05F-9C69-4526-8456-E19F91923FB8}">
      <dgm:prSet custT="1"/>
      <dgm:spPr/>
      <dgm:t>
        <a:bodyPr/>
        <a:lstStyle/>
        <a:p>
          <a:r>
            <a:rPr lang="en-IN" sz="2800" dirty="0"/>
            <a:t>Standard deviation analysis</a:t>
          </a:r>
        </a:p>
      </dgm:t>
    </dgm:pt>
    <dgm:pt modelId="{9E749986-C4A7-4A99-BACC-08E1CA7EE274}" type="parTrans" cxnId="{739CD255-7E9A-4E05-91C9-3F137B3AACDB}">
      <dgm:prSet/>
      <dgm:spPr/>
      <dgm:t>
        <a:bodyPr/>
        <a:lstStyle/>
        <a:p>
          <a:endParaRPr lang="en-IN"/>
        </a:p>
      </dgm:t>
    </dgm:pt>
    <dgm:pt modelId="{3237C6EB-2675-423A-B892-BE6CCF0E0633}" type="sibTrans" cxnId="{739CD255-7E9A-4E05-91C9-3F137B3AACDB}">
      <dgm:prSet/>
      <dgm:spPr/>
      <dgm:t>
        <a:bodyPr/>
        <a:lstStyle/>
        <a:p>
          <a:endParaRPr lang="en-IN"/>
        </a:p>
      </dgm:t>
    </dgm:pt>
    <dgm:pt modelId="{D06012FB-FD42-47A0-8A50-F01F49368F64}" type="pres">
      <dgm:prSet presAssocID="{8CBD3F50-E575-4683-9074-502FCC0CC4E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6DE42A7-F8F4-438F-BCAF-76BED4B131D2}" type="pres">
      <dgm:prSet presAssocID="{1CB5A05F-9C69-4526-8456-E19F91923FB8}" presName="horFlow" presStyleCnt="0"/>
      <dgm:spPr/>
    </dgm:pt>
    <dgm:pt modelId="{C0CFA732-20DC-481A-97C6-8F3A6AA05C30}" type="pres">
      <dgm:prSet presAssocID="{1CB5A05F-9C69-4526-8456-E19F91923FB8}" presName="bigChev" presStyleLbl="node1" presStyleIdx="0" presStyleCnt="1" custScaleX="180342" custLinFactNeighborX="2276" custLinFactNeighborY="1552"/>
      <dgm:spPr/>
    </dgm:pt>
  </dgm:ptLst>
  <dgm:cxnLst>
    <dgm:cxn modelId="{C8A47914-258F-4F54-82A0-C1D624805F6A}" type="presOf" srcId="{8CBD3F50-E575-4683-9074-502FCC0CC4EA}" destId="{D06012FB-FD42-47A0-8A50-F01F49368F64}" srcOrd="0" destOrd="0" presId="urn:microsoft.com/office/officeart/2005/8/layout/lProcess3"/>
    <dgm:cxn modelId="{739CD255-7E9A-4E05-91C9-3F137B3AACDB}" srcId="{8CBD3F50-E575-4683-9074-502FCC0CC4EA}" destId="{1CB5A05F-9C69-4526-8456-E19F91923FB8}" srcOrd="0" destOrd="0" parTransId="{9E749986-C4A7-4A99-BACC-08E1CA7EE274}" sibTransId="{3237C6EB-2675-423A-B892-BE6CCF0E0633}"/>
    <dgm:cxn modelId="{8E7417EA-FE3B-4FDD-930C-8EE5338053EB}" type="presOf" srcId="{1CB5A05F-9C69-4526-8456-E19F91923FB8}" destId="{C0CFA732-20DC-481A-97C6-8F3A6AA05C30}" srcOrd="0" destOrd="0" presId="urn:microsoft.com/office/officeart/2005/8/layout/lProcess3"/>
    <dgm:cxn modelId="{E826AE1B-0411-4682-9B56-4850F8C39DE9}" type="presParOf" srcId="{D06012FB-FD42-47A0-8A50-F01F49368F64}" destId="{E6DE42A7-F8F4-438F-BCAF-76BED4B131D2}" srcOrd="0" destOrd="0" presId="urn:microsoft.com/office/officeart/2005/8/layout/lProcess3"/>
    <dgm:cxn modelId="{A17C3365-297F-40EE-87A1-B6F5B291FFFF}" type="presParOf" srcId="{E6DE42A7-F8F4-438F-BCAF-76BED4B131D2}" destId="{C0CFA732-20DC-481A-97C6-8F3A6AA05C3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2057492-5D94-497F-938A-814255561762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B901E2-F3FD-4EB3-8A71-E783E96E7DFE}">
      <dgm:prSet custT="1"/>
      <dgm:spPr/>
      <dgm:t>
        <a:bodyPr/>
        <a:lstStyle/>
        <a:p>
          <a:r>
            <a:rPr lang="en-IN" sz="2800" dirty="0"/>
            <a:t>Data visualisation &amp; Dashboard overview</a:t>
          </a:r>
        </a:p>
      </dgm:t>
    </dgm:pt>
    <dgm:pt modelId="{D427AF04-6FD3-4296-9425-B800F67A8CF1}" type="parTrans" cxnId="{01D09329-AFF9-4822-82A4-E81EC3C7F7F3}">
      <dgm:prSet/>
      <dgm:spPr/>
      <dgm:t>
        <a:bodyPr/>
        <a:lstStyle/>
        <a:p>
          <a:endParaRPr lang="en-IN"/>
        </a:p>
      </dgm:t>
    </dgm:pt>
    <dgm:pt modelId="{2D3EEF3E-4BC0-4DC4-B5E9-1C3FDAF35A88}" type="sibTrans" cxnId="{01D09329-AFF9-4822-82A4-E81EC3C7F7F3}">
      <dgm:prSet/>
      <dgm:spPr/>
      <dgm:t>
        <a:bodyPr/>
        <a:lstStyle/>
        <a:p>
          <a:endParaRPr lang="en-IN"/>
        </a:p>
      </dgm:t>
    </dgm:pt>
    <dgm:pt modelId="{A79924D0-4A89-4D38-9138-B87163FB2530}" type="pres">
      <dgm:prSet presAssocID="{A2057492-5D94-497F-938A-81425556176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EAF8983-02E0-4643-BC6F-5BD554105F39}" type="pres">
      <dgm:prSet presAssocID="{22B901E2-F3FD-4EB3-8A71-E783E96E7DFE}" presName="horFlow" presStyleCnt="0"/>
      <dgm:spPr/>
    </dgm:pt>
    <dgm:pt modelId="{D3E1F3C6-B807-4CD6-B8C3-319C0A58C2B0}" type="pres">
      <dgm:prSet presAssocID="{22B901E2-F3FD-4EB3-8A71-E783E96E7DFE}" presName="bigChev" presStyleLbl="node1" presStyleIdx="0" presStyleCnt="1" custScaleX="192481"/>
      <dgm:spPr/>
    </dgm:pt>
  </dgm:ptLst>
  <dgm:cxnLst>
    <dgm:cxn modelId="{01D09329-AFF9-4822-82A4-E81EC3C7F7F3}" srcId="{A2057492-5D94-497F-938A-814255561762}" destId="{22B901E2-F3FD-4EB3-8A71-E783E96E7DFE}" srcOrd="0" destOrd="0" parTransId="{D427AF04-6FD3-4296-9425-B800F67A8CF1}" sibTransId="{2D3EEF3E-4BC0-4DC4-B5E9-1C3FDAF35A88}"/>
    <dgm:cxn modelId="{253D63A7-4E10-402A-BE78-8F76D043124B}" type="presOf" srcId="{A2057492-5D94-497F-938A-814255561762}" destId="{A79924D0-4A89-4D38-9138-B87163FB2530}" srcOrd="0" destOrd="0" presId="urn:microsoft.com/office/officeart/2005/8/layout/lProcess3"/>
    <dgm:cxn modelId="{3B4E6BC5-E4F7-427C-BFD2-371E7745BCF8}" type="presOf" srcId="{22B901E2-F3FD-4EB3-8A71-E783E96E7DFE}" destId="{D3E1F3C6-B807-4CD6-B8C3-319C0A58C2B0}" srcOrd="0" destOrd="0" presId="urn:microsoft.com/office/officeart/2005/8/layout/lProcess3"/>
    <dgm:cxn modelId="{93803D9D-79A9-4B2E-BC30-6EDBED6E6188}" type="presParOf" srcId="{A79924D0-4A89-4D38-9138-B87163FB2530}" destId="{DEAF8983-02E0-4643-BC6F-5BD554105F39}" srcOrd="0" destOrd="0" presId="urn:microsoft.com/office/officeart/2005/8/layout/lProcess3"/>
    <dgm:cxn modelId="{5662FB7D-C2B6-4CD5-A2E6-91F8BD17973C}" type="presParOf" srcId="{DEAF8983-02E0-4643-BC6F-5BD554105F39}" destId="{D3E1F3C6-B807-4CD6-B8C3-319C0A58C2B0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E3953E6-2B71-4D5F-B2DD-AA009619C74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65359F-03A8-4C5C-99C8-0A7E36C0B14C}">
      <dgm:prSet custT="1"/>
      <dgm:spPr/>
      <dgm:t>
        <a:bodyPr/>
        <a:lstStyle/>
        <a:p>
          <a:r>
            <a:rPr lang="en-IN" sz="2800" dirty="0"/>
            <a:t>Business Recommendations</a:t>
          </a:r>
        </a:p>
      </dgm:t>
    </dgm:pt>
    <dgm:pt modelId="{E2A3167F-6A0B-4A08-8421-6CAAB8483545}" type="parTrans" cxnId="{8A006496-75B4-4AC6-8672-EAD90B86D3CF}">
      <dgm:prSet/>
      <dgm:spPr/>
      <dgm:t>
        <a:bodyPr/>
        <a:lstStyle/>
        <a:p>
          <a:endParaRPr lang="en-IN"/>
        </a:p>
      </dgm:t>
    </dgm:pt>
    <dgm:pt modelId="{49E6B115-BC42-433B-9D06-580C42D7A6CC}" type="sibTrans" cxnId="{8A006496-75B4-4AC6-8672-EAD90B86D3CF}">
      <dgm:prSet/>
      <dgm:spPr/>
      <dgm:t>
        <a:bodyPr/>
        <a:lstStyle/>
        <a:p>
          <a:endParaRPr lang="en-IN"/>
        </a:p>
      </dgm:t>
    </dgm:pt>
    <dgm:pt modelId="{71B4F41B-3003-4A48-815C-F9407BE11CBB}" type="pres">
      <dgm:prSet presAssocID="{CE3953E6-2B71-4D5F-B2DD-AA009619C74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2ED329A-81E3-4DFC-AB69-692A2AB563E1}" type="pres">
      <dgm:prSet presAssocID="{9065359F-03A8-4C5C-99C8-0A7E36C0B14C}" presName="horFlow" presStyleCnt="0"/>
      <dgm:spPr/>
    </dgm:pt>
    <dgm:pt modelId="{5C9A0315-A3F1-4369-9E30-D593ED679BEC}" type="pres">
      <dgm:prSet presAssocID="{9065359F-03A8-4C5C-99C8-0A7E36C0B14C}" presName="bigChev" presStyleLbl="node1" presStyleIdx="0" presStyleCnt="1" custScaleX="192481"/>
      <dgm:spPr/>
    </dgm:pt>
  </dgm:ptLst>
  <dgm:cxnLst>
    <dgm:cxn modelId="{E1C8730A-0121-4D94-8A2B-4DF16736EE73}" type="presOf" srcId="{CE3953E6-2B71-4D5F-B2DD-AA009619C74C}" destId="{71B4F41B-3003-4A48-815C-F9407BE11CBB}" srcOrd="0" destOrd="0" presId="urn:microsoft.com/office/officeart/2005/8/layout/lProcess3"/>
    <dgm:cxn modelId="{8A006496-75B4-4AC6-8672-EAD90B86D3CF}" srcId="{CE3953E6-2B71-4D5F-B2DD-AA009619C74C}" destId="{9065359F-03A8-4C5C-99C8-0A7E36C0B14C}" srcOrd="0" destOrd="0" parTransId="{E2A3167F-6A0B-4A08-8421-6CAAB8483545}" sibTransId="{49E6B115-BC42-433B-9D06-580C42D7A6CC}"/>
    <dgm:cxn modelId="{230D3DCF-F409-401B-8D5B-D5AE52923F43}" type="presOf" srcId="{9065359F-03A8-4C5C-99C8-0A7E36C0B14C}" destId="{5C9A0315-A3F1-4369-9E30-D593ED679BEC}" srcOrd="0" destOrd="0" presId="urn:microsoft.com/office/officeart/2005/8/layout/lProcess3"/>
    <dgm:cxn modelId="{B10D0CAA-E649-4A55-914B-274BA6847D83}" type="presParOf" srcId="{71B4F41B-3003-4A48-815C-F9407BE11CBB}" destId="{D2ED329A-81E3-4DFC-AB69-692A2AB563E1}" srcOrd="0" destOrd="0" presId="urn:microsoft.com/office/officeart/2005/8/layout/lProcess3"/>
    <dgm:cxn modelId="{DFC0AC41-3778-43D0-AF41-FDA2574EF753}" type="presParOf" srcId="{D2ED329A-81E3-4DFC-AB69-692A2AB563E1}" destId="{5C9A0315-A3F1-4369-9E30-D593ED679BE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F47C07D-F307-49CF-9F4C-EA7F4F5AEE41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071030-EDE7-4814-8710-4E8AC3D7D50D}">
      <dgm:prSet/>
      <dgm:spPr/>
      <dgm:t>
        <a:bodyPr/>
        <a:lstStyle/>
        <a:p>
          <a:pPr algn="ctr"/>
          <a:r>
            <a:rPr lang="en-IN" dirty="0"/>
            <a:t>Thank You</a:t>
          </a:r>
        </a:p>
      </dgm:t>
    </dgm:pt>
    <dgm:pt modelId="{119C8F04-6284-4B68-BC6E-B70774A7ABFC}" type="parTrans" cxnId="{E85377E3-E51F-44DE-984B-AC93A4D6168A}">
      <dgm:prSet/>
      <dgm:spPr/>
      <dgm:t>
        <a:bodyPr/>
        <a:lstStyle/>
        <a:p>
          <a:endParaRPr lang="en-IN"/>
        </a:p>
      </dgm:t>
    </dgm:pt>
    <dgm:pt modelId="{D29057B0-4299-4765-954A-9D383FDE94C5}" type="sibTrans" cxnId="{E85377E3-E51F-44DE-984B-AC93A4D6168A}">
      <dgm:prSet/>
      <dgm:spPr/>
      <dgm:t>
        <a:bodyPr/>
        <a:lstStyle/>
        <a:p>
          <a:endParaRPr lang="en-IN"/>
        </a:p>
      </dgm:t>
    </dgm:pt>
    <dgm:pt modelId="{EA4CA15D-7CCD-43DB-AD2B-0A9025339EAB}" type="pres">
      <dgm:prSet presAssocID="{CF47C07D-F307-49CF-9F4C-EA7F4F5AEE41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3CF7CA7-6852-4BBE-8165-2A7524E43B7C}" type="pres">
      <dgm:prSet presAssocID="{C3071030-EDE7-4814-8710-4E8AC3D7D50D}" presName="horFlow" presStyleCnt="0"/>
      <dgm:spPr/>
    </dgm:pt>
    <dgm:pt modelId="{5F4BE5A3-DBCF-4551-845B-6570F10BB244}" type="pres">
      <dgm:prSet presAssocID="{C3071030-EDE7-4814-8710-4E8AC3D7D50D}" presName="bigChev" presStyleLbl="node1" presStyleIdx="0" presStyleCnt="1" custScaleX="134914" custLinFactNeighborX="-68284" custLinFactNeighborY="10800"/>
      <dgm:spPr/>
    </dgm:pt>
  </dgm:ptLst>
  <dgm:cxnLst>
    <dgm:cxn modelId="{789BD175-D791-4B87-9D84-9F654D139FAB}" type="presOf" srcId="{C3071030-EDE7-4814-8710-4E8AC3D7D50D}" destId="{5F4BE5A3-DBCF-4551-845B-6570F10BB244}" srcOrd="0" destOrd="0" presId="urn:microsoft.com/office/officeart/2005/8/layout/lProcess3"/>
    <dgm:cxn modelId="{DE048084-F062-4A83-ADE4-1D22FCE0F96F}" type="presOf" srcId="{CF47C07D-F307-49CF-9F4C-EA7F4F5AEE41}" destId="{EA4CA15D-7CCD-43DB-AD2B-0A9025339EAB}" srcOrd="0" destOrd="0" presId="urn:microsoft.com/office/officeart/2005/8/layout/lProcess3"/>
    <dgm:cxn modelId="{E85377E3-E51F-44DE-984B-AC93A4D6168A}" srcId="{CF47C07D-F307-49CF-9F4C-EA7F4F5AEE41}" destId="{C3071030-EDE7-4814-8710-4E8AC3D7D50D}" srcOrd="0" destOrd="0" parTransId="{119C8F04-6284-4B68-BC6E-B70774A7ABFC}" sibTransId="{D29057B0-4299-4765-954A-9D383FDE94C5}"/>
    <dgm:cxn modelId="{67EEE504-8051-40CC-BDD7-BE4A8A5DD69F}" type="presParOf" srcId="{EA4CA15D-7CCD-43DB-AD2B-0A9025339EAB}" destId="{53CF7CA7-6852-4BBE-8165-2A7524E43B7C}" srcOrd="0" destOrd="0" presId="urn:microsoft.com/office/officeart/2005/8/layout/lProcess3"/>
    <dgm:cxn modelId="{6EAF4ACD-C5BD-400F-A639-B7B1448DD026}" type="presParOf" srcId="{53CF7CA7-6852-4BBE-8165-2A7524E43B7C}" destId="{5F4BE5A3-DBCF-4551-845B-6570F10BB24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B6F18-6E6D-418E-9542-6E9362275DB6}">
      <dsp:nvSpPr>
        <dsp:cNvPr id="0" name=""/>
        <dsp:cNvSpPr/>
      </dsp:nvSpPr>
      <dsp:spPr>
        <a:xfrm>
          <a:off x="200165" y="832"/>
          <a:ext cx="5947382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Bike Sharing Demand Analysis</a:t>
          </a:r>
          <a:endParaRPr lang="en-IN" sz="2800" kern="1200" dirty="0"/>
        </a:p>
      </dsp:txBody>
      <dsp:txXfrm>
        <a:off x="859732" y="832"/>
        <a:ext cx="4628248" cy="13191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5C89E-2B17-4079-8D55-925159A152EA}">
      <dsp:nvSpPr>
        <dsp:cNvPr id="0" name=""/>
        <dsp:cNvSpPr/>
      </dsp:nvSpPr>
      <dsp:spPr>
        <a:xfrm>
          <a:off x="0" y="1164431"/>
          <a:ext cx="6348413" cy="155257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C0BDE-EFCD-47F8-A9FB-B6CE044C54F4}">
      <dsp:nvSpPr>
        <dsp:cNvPr id="0" name=""/>
        <dsp:cNvSpPr/>
      </dsp:nvSpPr>
      <dsp:spPr>
        <a:xfrm>
          <a:off x="815" y="0"/>
          <a:ext cx="2070053" cy="155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Project using Excel</a:t>
          </a:r>
        </a:p>
      </dsp:txBody>
      <dsp:txXfrm>
        <a:off x="815" y="0"/>
        <a:ext cx="2070053" cy="1552574"/>
      </dsp:txXfrm>
    </dsp:sp>
    <dsp:sp modelId="{17E1FEBC-8413-448B-B7CA-929CD1218078}">
      <dsp:nvSpPr>
        <dsp:cNvPr id="0" name=""/>
        <dsp:cNvSpPr/>
      </dsp:nvSpPr>
      <dsp:spPr>
        <a:xfrm>
          <a:off x="841770" y="1746646"/>
          <a:ext cx="388143" cy="3881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C9BDF-378A-4AEE-BE75-DAC090C3EF7C}">
      <dsp:nvSpPr>
        <dsp:cNvPr id="0" name=""/>
        <dsp:cNvSpPr/>
      </dsp:nvSpPr>
      <dsp:spPr>
        <a:xfrm>
          <a:off x="2174371" y="2328862"/>
          <a:ext cx="3538384" cy="155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Name: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 Om Prakash</a:t>
          </a:r>
        </a:p>
      </dsp:txBody>
      <dsp:txXfrm>
        <a:off x="2174371" y="2328862"/>
        <a:ext cx="3538384" cy="1552574"/>
      </dsp:txXfrm>
    </dsp:sp>
    <dsp:sp modelId="{889EBE91-2F09-46BA-B0E5-BE4C478CFE39}">
      <dsp:nvSpPr>
        <dsp:cNvPr id="0" name=""/>
        <dsp:cNvSpPr/>
      </dsp:nvSpPr>
      <dsp:spPr>
        <a:xfrm>
          <a:off x="3749492" y="1746646"/>
          <a:ext cx="388143" cy="3881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351EE-9229-4515-AF96-E3134672C123}">
      <dsp:nvSpPr>
        <dsp:cNvPr id="0" name=""/>
        <dsp:cNvSpPr/>
      </dsp:nvSpPr>
      <dsp:spPr>
        <a:xfrm>
          <a:off x="716512" y="0"/>
          <a:ext cx="3694731" cy="13192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Content</a:t>
          </a:r>
        </a:p>
      </dsp:txBody>
      <dsp:txXfrm>
        <a:off x="1376112" y="0"/>
        <a:ext cx="2375531" cy="1319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351EE-9229-4515-AF96-E3134672C123}">
      <dsp:nvSpPr>
        <dsp:cNvPr id="0" name=""/>
        <dsp:cNvSpPr/>
      </dsp:nvSpPr>
      <dsp:spPr>
        <a:xfrm>
          <a:off x="793841" y="832"/>
          <a:ext cx="4760029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Introduction</a:t>
          </a:r>
        </a:p>
      </dsp:txBody>
      <dsp:txXfrm>
        <a:off x="1453408" y="832"/>
        <a:ext cx="3440895" cy="13191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244E1-A446-48B1-81A0-4DA2C37CD022}">
      <dsp:nvSpPr>
        <dsp:cNvPr id="0" name=""/>
        <dsp:cNvSpPr/>
      </dsp:nvSpPr>
      <dsp:spPr>
        <a:xfrm>
          <a:off x="766552" y="832"/>
          <a:ext cx="4814608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Problem Statement</a:t>
          </a:r>
        </a:p>
      </dsp:txBody>
      <dsp:txXfrm>
        <a:off x="1426119" y="832"/>
        <a:ext cx="3495474" cy="13191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DB44B-1805-4B94-8F19-885460D39214}">
      <dsp:nvSpPr>
        <dsp:cNvPr id="0" name=""/>
        <dsp:cNvSpPr/>
      </dsp:nvSpPr>
      <dsp:spPr>
        <a:xfrm>
          <a:off x="657360" y="832"/>
          <a:ext cx="5032991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Dataset Description</a:t>
          </a:r>
        </a:p>
      </dsp:txBody>
      <dsp:txXfrm>
        <a:off x="1316927" y="832"/>
        <a:ext cx="3713857" cy="13191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A5903-7331-4E73-B30F-2E3B51F767D5}">
      <dsp:nvSpPr>
        <dsp:cNvPr id="0" name=""/>
        <dsp:cNvSpPr/>
      </dsp:nvSpPr>
      <dsp:spPr>
        <a:xfrm>
          <a:off x="855263" y="832"/>
          <a:ext cx="4637185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Preparation </a:t>
          </a:r>
        </a:p>
      </dsp:txBody>
      <dsp:txXfrm>
        <a:off x="1514830" y="832"/>
        <a:ext cx="3318051" cy="13191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E363AE-8F18-4100-8212-0471500A8A64}">
      <dsp:nvSpPr>
        <dsp:cNvPr id="0" name=""/>
        <dsp:cNvSpPr/>
      </dsp:nvSpPr>
      <dsp:spPr>
        <a:xfrm>
          <a:off x="787015" y="832"/>
          <a:ext cx="4773682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Merging</a:t>
          </a:r>
        </a:p>
      </dsp:txBody>
      <dsp:txXfrm>
        <a:off x="1446582" y="832"/>
        <a:ext cx="3454548" cy="13191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CE5AA-B36E-4FA6-8E9F-E8B856188CFC}">
      <dsp:nvSpPr>
        <dsp:cNvPr id="0" name=""/>
        <dsp:cNvSpPr/>
      </dsp:nvSpPr>
      <dsp:spPr>
        <a:xfrm>
          <a:off x="787015" y="832"/>
          <a:ext cx="4773682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Analysis</a:t>
          </a:r>
        </a:p>
      </dsp:txBody>
      <dsp:txXfrm>
        <a:off x="1446582" y="832"/>
        <a:ext cx="3454548" cy="13191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8FDDE-07E2-4612-8056-11670077C166}">
      <dsp:nvSpPr>
        <dsp:cNvPr id="0" name=""/>
        <dsp:cNvSpPr/>
      </dsp:nvSpPr>
      <dsp:spPr>
        <a:xfrm>
          <a:off x="841610" y="832"/>
          <a:ext cx="4664491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Correlation analysis</a:t>
          </a:r>
        </a:p>
      </dsp:txBody>
      <dsp:txXfrm>
        <a:off x="1501177" y="832"/>
        <a:ext cx="3345357" cy="13191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FA732-20DC-481A-97C6-8F3A6AA05C30}">
      <dsp:nvSpPr>
        <dsp:cNvPr id="0" name=""/>
        <dsp:cNvSpPr/>
      </dsp:nvSpPr>
      <dsp:spPr>
        <a:xfrm>
          <a:off x="275224" y="1665"/>
          <a:ext cx="5947382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Standard deviation analysis</a:t>
          </a:r>
        </a:p>
      </dsp:txBody>
      <dsp:txXfrm>
        <a:off x="934791" y="1665"/>
        <a:ext cx="4628248" cy="13191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1F3C6-B807-4CD6-B8C3-319C0A58C2B0}">
      <dsp:nvSpPr>
        <dsp:cNvPr id="0" name=""/>
        <dsp:cNvSpPr/>
      </dsp:nvSpPr>
      <dsp:spPr>
        <a:xfrm>
          <a:off x="3" y="832"/>
          <a:ext cx="6347706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Data visualisation &amp; Dashboard overview</a:t>
          </a:r>
        </a:p>
      </dsp:txBody>
      <dsp:txXfrm>
        <a:off x="659570" y="832"/>
        <a:ext cx="5028572" cy="13191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A0315-A3F1-4369-9E30-D593ED679BEC}">
      <dsp:nvSpPr>
        <dsp:cNvPr id="0" name=""/>
        <dsp:cNvSpPr/>
      </dsp:nvSpPr>
      <dsp:spPr>
        <a:xfrm>
          <a:off x="3" y="832"/>
          <a:ext cx="6347706" cy="13191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Business Recommendations</a:t>
          </a:r>
        </a:p>
      </dsp:txBody>
      <dsp:txXfrm>
        <a:off x="659570" y="832"/>
        <a:ext cx="5028572" cy="13191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BE5A3-DBCF-4551-845B-6570F10BB244}">
      <dsp:nvSpPr>
        <dsp:cNvPr id="0" name=""/>
        <dsp:cNvSpPr/>
      </dsp:nvSpPr>
      <dsp:spPr>
        <a:xfrm>
          <a:off x="0" y="1690"/>
          <a:ext cx="4449157" cy="13191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10" tIns="33655" rIns="0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300" kern="1200" dirty="0"/>
            <a:t>Thank You</a:t>
          </a:r>
        </a:p>
      </dsp:txBody>
      <dsp:txXfrm>
        <a:off x="659555" y="1690"/>
        <a:ext cx="3130048" cy="1319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47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6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2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72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5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2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00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897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8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9513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52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3248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71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715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16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8F668-25F3-4220-97EA-3399DC85853F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9C65FE-C195-421B-A1D0-1687CC403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1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A709CC2-4AA9-334E-C496-C0E65ACC6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1721260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A029C91-2234-CBCD-F4E7-9120BACD2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665436"/>
              </p:ext>
            </p:extLst>
          </p:nvPr>
        </p:nvGraphicFramePr>
        <p:xfrm>
          <a:off x="2133601" y="2160589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37C8-8315-F963-137E-8209BED8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9575AA6-79C6-F3EA-D278-52AB5F2B8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441661"/>
              </p:ext>
            </p:extLst>
          </p:nvPr>
        </p:nvGraphicFramePr>
        <p:xfrm>
          <a:off x="2024418" y="650543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F26E-F466-EA6B-2240-CF3418CE7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436" y="2160589"/>
            <a:ext cx="7663566" cy="3880773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Introduction</a:t>
            </a:r>
          </a:p>
          <a:p>
            <a:r>
              <a:rPr lang="en-IN" sz="2000" dirty="0"/>
              <a:t>Problem statement</a:t>
            </a:r>
          </a:p>
          <a:p>
            <a:r>
              <a:rPr lang="en-IN" sz="2000" dirty="0"/>
              <a:t>Data description</a:t>
            </a:r>
          </a:p>
          <a:p>
            <a:r>
              <a:rPr lang="en-IN" sz="2000" dirty="0"/>
              <a:t>Data </a:t>
            </a:r>
            <a:r>
              <a:rPr lang="en-IN" sz="2000" dirty="0" err="1"/>
              <a:t>Prepration</a:t>
            </a:r>
            <a:endParaRPr lang="en-IN" sz="2000" dirty="0"/>
          </a:p>
          <a:p>
            <a:r>
              <a:rPr lang="en-IN" sz="2000" dirty="0"/>
              <a:t>Data merging</a:t>
            </a:r>
          </a:p>
          <a:p>
            <a:r>
              <a:rPr lang="en-IN" sz="2000" dirty="0"/>
              <a:t>Data Analysis</a:t>
            </a:r>
          </a:p>
          <a:p>
            <a:r>
              <a:rPr lang="en-IN" sz="2000" dirty="0"/>
              <a:t>Correlation analysis</a:t>
            </a:r>
          </a:p>
          <a:p>
            <a:r>
              <a:rPr lang="en-IN" sz="2000" dirty="0"/>
              <a:t>Standard deviation analysis</a:t>
            </a:r>
          </a:p>
          <a:p>
            <a:r>
              <a:rPr lang="en-IN" sz="2000" dirty="0"/>
              <a:t>Dashboard overview</a:t>
            </a:r>
          </a:p>
          <a:p>
            <a:r>
              <a:rPr lang="en-IN" sz="2000" dirty="0"/>
              <a:t>Visualisation</a:t>
            </a:r>
          </a:p>
          <a:p>
            <a:r>
              <a:rPr lang="en-IN" sz="2000" dirty="0"/>
              <a:t>Charts</a:t>
            </a:r>
          </a:p>
          <a:p>
            <a:r>
              <a:rPr lang="en-IN" sz="2000" dirty="0"/>
              <a:t>Business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465091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1D9B31D-CB55-A963-E784-F69D45079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283308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solidFill>
                  <a:srgbClr val="002060"/>
                </a:solidFill>
              </a:rPr>
              <a:t>This project analyzes bike rental demand using Excel.</a:t>
            </a:r>
          </a:p>
          <a:p>
            <a:r>
              <a:rPr sz="2000" b="1" dirty="0">
                <a:solidFill>
                  <a:srgbClr val="002060"/>
                </a:solidFill>
              </a:rPr>
              <a:t>Focus: weather</a:t>
            </a:r>
            <a:r>
              <a:rPr lang="en-IN" sz="2000" b="1" dirty="0">
                <a:solidFill>
                  <a:srgbClr val="002060"/>
                </a:solidFill>
              </a:rPr>
              <a:t> condition</a:t>
            </a:r>
            <a:r>
              <a:rPr sz="2000" b="1" dirty="0">
                <a:solidFill>
                  <a:srgbClr val="002060"/>
                </a:solidFill>
              </a:rPr>
              <a:t>, time,</a:t>
            </a:r>
            <a:r>
              <a:rPr lang="en-IN" sz="2000" b="1" dirty="0">
                <a:solidFill>
                  <a:srgbClr val="002060"/>
                </a:solidFill>
              </a:rPr>
              <a:t> humidity, windspeed, Temperature,</a:t>
            </a:r>
            <a:r>
              <a:rPr sz="2000" b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weekday </a:t>
            </a:r>
            <a:r>
              <a:rPr sz="2000" b="1" dirty="0">
                <a:solidFill>
                  <a:srgbClr val="002060"/>
                </a:solidFill>
              </a:rPr>
              <a:t>and </a:t>
            </a:r>
            <a:r>
              <a:rPr lang="en-IN" sz="2000" b="1" dirty="0">
                <a:solidFill>
                  <a:srgbClr val="002060"/>
                </a:solidFill>
              </a:rPr>
              <a:t>holidays </a:t>
            </a:r>
            <a:r>
              <a:rPr sz="2000" b="1" dirty="0">
                <a:solidFill>
                  <a:srgbClr val="002060"/>
                </a:solidFill>
              </a:rPr>
              <a:t>.</a:t>
            </a:r>
            <a:endParaRPr lang="en-IN" sz="2000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Look for patterns over time and how weather changes affect rentals.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This project uses Excel tools to clean and join data, visualize trends, create new features, and prepare easy-to-understand reports.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Organized data leads to better decisions faster. </a:t>
            </a:r>
          </a:p>
          <a:p>
            <a:endParaRPr lang="en-IN" sz="2000" b="1" dirty="0">
              <a:solidFill>
                <a:srgbClr val="002060"/>
              </a:solidFill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456B91-11E3-3903-EFDD-885B708F0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2386813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3179929"/>
            <a:ext cx="6347714" cy="2861435"/>
          </a:xfrm>
        </p:spPr>
        <p:txBody>
          <a:bodyPr>
            <a:normAutofit/>
          </a:bodyPr>
          <a:lstStyle/>
          <a:p>
            <a:r>
              <a:rPr sz="2000" b="1" dirty="0">
                <a:solidFill>
                  <a:srgbClr val="002060"/>
                </a:solidFill>
              </a:rPr>
              <a:t>Understand factors affecting bike rentals</a:t>
            </a:r>
            <a:endParaRPr lang="en-IN" sz="2000" b="1" dirty="0">
              <a:solidFill>
                <a:srgbClr val="002060"/>
              </a:solidFill>
            </a:endParaRPr>
          </a:p>
          <a:p>
            <a:r>
              <a:rPr lang="en-IN" sz="2000" b="1" dirty="0">
                <a:solidFill>
                  <a:srgbClr val="002060"/>
                </a:solidFill>
              </a:rPr>
              <a:t>Identifying impacts of weather , time and holidays</a:t>
            </a:r>
            <a:endParaRPr sz="2000" b="1" dirty="0">
              <a:solidFill>
                <a:srgbClr val="002060"/>
              </a:solidFill>
            </a:endParaRPr>
          </a:p>
          <a:p>
            <a:r>
              <a:rPr sz="2000" b="1" dirty="0">
                <a:solidFill>
                  <a:srgbClr val="002060"/>
                </a:solidFill>
              </a:rPr>
              <a:t>Help improve business decisions and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C2655D-AF9F-E838-2D9D-B5D3C7175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100496"/>
              </p:ext>
            </p:extLst>
          </p:nvPr>
        </p:nvGraphicFramePr>
        <p:xfrm>
          <a:off x="2133601" y="561833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2831911"/>
            <a:ext cx="6347714" cy="320945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Three</a:t>
            </a:r>
            <a:r>
              <a:rPr b="1" dirty="0">
                <a:solidFill>
                  <a:srgbClr val="002060"/>
                </a:solidFill>
              </a:rPr>
              <a:t> datasets</a:t>
            </a:r>
            <a:r>
              <a:rPr lang="en-IN" b="1" dirty="0">
                <a:solidFill>
                  <a:srgbClr val="002060"/>
                </a:solidFill>
              </a:rPr>
              <a:t> Dataset1, Dataset2, Dataset3 merge on common keys i.e. Instant via Power query</a:t>
            </a:r>
            <a:endParaRPr b="1" dirty="0">
              <a:solidFill>
                <a:srgbClr val="002060"/>
              </a:solidFill>
            </a:endParaRPr>
          </a:p>
          <a:p>
            <a:r>
              <a:rPr lang="en-IN" b="1" dirty="0">
                <a:solidFill>
                  <a:srgbClr val="002060"/>
                </a:solidFill>
              </a:rPr>
              <a:t>Data </a:t>
            </a:r>
            <a:r>
              <a:rPr b="1" dirty="0">
                <a:solidFill>
                  <a:srgbClr val="002060"/>
                </a:solidFill>
              </a:rPr>
              <a:t>Includes: date, hour, weather,</a:t>
            </a:r>
            <a:r>
              <a:rPr lang="en-IN" b="1" dirty="0">
                <a:solidFill>
                  <a:srgbClr val="002060"/>
                </a:solidFill>
              </a:rPr>
              <a:t> weekend, weekday, </a:t>
            </a:r>
            <a:r>
              <a:rPr b="1" dirty="0">
                <a:solidFill>
                  <a:srgbClr val="002060"/>
                </a:solidFill>
              </a:rPr>
              <a:t>users, rentals</a:t>
            </a:r>
            <a:r>
              <a:rPr lang="en-IN" b="1" dirty="0">
                <a:solidFill>
                  <a:srgbClr val="002060"/>
                </a:solidFill>
              </a:rPr>
              <a:t> count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15B44B7-C119-27C9-7F1F-EC03A5DA4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942177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2565779"/>
            <a:ext cx="6347714" cy="3475585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IN" dirty="0"/>
          </a:p>
          <a:p>
            <a:r>
              <a:rPr lang="en-IN" dirty="0">
                <a:solidFill>
                  <a:srgbClr val="002060"/>
                </a:solidFill>
              </a:rPr>
              <a:t>Data cleaning </a:t>
            </a:r>
          </a:p>
          <a:p>
            <a:r>
              <a:rPr lang="en-IN" dirty="0">
                <a:solidFill>
                  <a:srgbClr val="002060"/>
                </a:solidFill>
              </a:rPr>
              <a:t>Handle missing values</a:t>
            </a:r>
            <a:endParaRPr dirty="0">
              <a:solidFill>
                <a:srgbClr val="002060"/>
              </a:solidFill>
            </a:endParaRPr>
          </a:p>
          <a:p>
            <a:r>
              <a:rPr dirty="0">
                <a:solidFill>
                  <a:srgbClr val="002060"/>
                </a:solidFill>
              </a:rPr>
              <a:t>Formatted date and numeric fields</a:t>
            </a:r>
            <a:endParaRPr lang="en-IN" dirty="0">
              <a:solidFill>
                <a:srgbClr val="002060"/>
              </a:solidFill>
            </a:endParaRPr>
          </a:p>
          <a:p>
            <a:r>
              <a:rPr lang="en-IN" dirty="0">
                <a:solidFill>
                  <a:srgbClr val="002060"/>
                </a:solidFill>
              </a:rPr>
              <a:t>Sorting and filter</a:t>
            </a:r>
            <a:r>
              <a:rPr lang="en-US" dirty="0">
                <a:solidFill>
                  <a:srgbClr val="002060"/>
                </a:solidFill>
              </a:rPr>
              <a:t> inconsistent data</a:t>
            </a:r>
          </a:p>
          <a:p>
            <a:r>
              <a:rPr lang="en-US" dirty="0">
                <a:solidFill>
                  <a:srgbClr val="002060"/>
                </a:solidFill>
              </a:rPr>
              <a:t>Standardized data format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808AA97-24A6-9A66-10E3-43416E262A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0183076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3343701"/>
            <a:ext cx="6347714" cy="2697662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Used Power Query</a:t>
            </a:r>
          </a:p>
          <a:p>
            <a:r>
              <a:rPr dirty="0">
                <a:solidFill>
                  <a:srgbClr val="002060"/>
                </a:solidFill>
              </a:rPr>
              <a:t>Merged datasets using common keys</a:t>
            </a:r>
            <a:r>
              <a:rPr lang="en-IN" dirty="0">
                <a:solidFill>
                  <a:srgbClr val="002060"/>
                </a:solidFill>
              </a:rPr>
              <a:t> : Instant</a:t>
            </a:r>
          </a:p>
          <a:p>
            <a:r>
              <a:rPr lang="en-IN" dirty="0">
                <a:solidFill>
                  <a:srgbClr val="002060"/>
                </a:solidFill>
              </a:rPr>
              <a:t>Three datasets Dataset1, Dataset2, Dataset3 </a:t>
            </a:r>
          </a:p>
          <a:p>
            <a:r>
              <a:rPr lang="en-IN" dirty="0">
                <a:solidFill>
                  <a:srgbClr val="002060"/>
                </a:solidFill>
              </a:rPr>
              <a:t>First merge dataset1 and dataset2 to get dataset A.</a:t>
            </a:r>
          </a:p>
          <a:p>
            <a:r>
              <a:rPr lang="en-IN" dirty="0">
                <a:solidFill>
                  <a:srgbClr val="002060"/>
                </a:solidFill>
              </a:rPr>
              <a:t>Then dataset A append dataset3 to get final dataset.</a:t>
            </a:r>
          </a:p>
          <a:p>
            <a:endParaRPr lang="en-IN" dirty="0">
              <a:solidFill>
                <a:srgbClr val="002060"/>
              </a:solidFill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6F63ADD-FC0A-2C0C-B8A2-B01C8F9269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4317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3429001"/>
            <a:ext cx="6347714" cy="2612363"/>
          </a:xfrm>
        </p:spPr>
        <p:txBody>
          <a:bodyPr/>
          <a:lstStyle/>
          <a:p>
            <a:r>
              <a:rPr dirty="0"/>
              <a:t>Used Pivot Tables</a:t>
            </a:r>
            <a:r>
              <a:rPr lang="en-IN" dirty="0"/>
              <a:t> , Pivot Charts</a:t>
            </a:r>
            <a:endParaRPr dirty="0"/>
          </a:p>
          <a:p>
            <a:r>
              <a:rPr dirty="0"/>
              <a:t>Analyzed trends by hour, weather, </a:t>
            </a:r>
            <a:r>
              <a:rPr lang="en-IN" dirty="0"/>
              <a:t>weekend, Temperature, Humidity, Windspeed, </a:t>
            </a:r>
            <a:r>
              <a:rPr lang="en-IN" dirty="0" err="1"/>
              <a:t>Atemp</a:t>
            </a:r>
            <a:r>
              <a:rPr lang="en-IN" dirty="0"/>
              <a:t> and temp</a:t>
            </a:r>
          </a:p>
          <a:p>
            <a:r>
              <a:rPr lang="en-US" sz="1600" dirty="0"/>
              <a:t>Use COUNTIF, SUMIF, STDEV, CORREL functions for statistics.</a:t>
            </a:r>
            <a:endParaRPr lang="en-IN" sz="1600" dirty="0"/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C4FF001-4E2A-DD68-E05D-97D15981BE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0885835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41D5F81-E330-57F1-53F5-A4F8AE3C9A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33601" y="3057100"/>
          <a:ext cx="6348411" cy="2543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137">
                  <a:extLst>
                    <a:ext uri="{9D8B030D-6E8A-4147-A177-3AD203B41FA5}">
                      <a16:colId xmlns:a16="http://schemas.microsoft.com/office/drawing/2014/main" val="528620182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203579133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3052439876"/>
                    </a:ext>
                  </a:extLst>
                </a:gridCol>
              </a:tblGrid>
              <a:tr h="623501">
                <a:tc>
                  <a:txBody>
                    <a:bodyPr/>
                    <a:lstStyle/>
                    <a:p>
                      <a:r>
                        <a:rPr lang="en-IN" dirty="0"/>
                        <a:t>Variable vs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538353"/>
                  </a:ext>
                </a:extLst>
              </a:tr>
              <a:tr h="6235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Hours vs Count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0.366047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positive, Time has impact on a rental as at certain hours rental got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incresed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Most impactful factors compare to others.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7694320"/>
                  </a:ext>
                </a:extLst>
              </a:tr>
              <a:tr h="6235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 vs Count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0.229292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 positive, as temperature increase rental increase little bit but it doesn’t have strong impact.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9913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031544-0DC9-DE96-6D70-DF9E837E4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4932236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B4203E0-BFE2-B4A1-9F61-22E0930ADF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33601" y="2156346"/>
          <a:ext cx="6348411" cy="360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137">
                  <a:extLst>
                    <a:ext uri="{9D8B030D-6E8A-4147-A177-3AD203B41FA5}">
                      <a16:colId xmlns:a16="http://schemas.microsoft.com/office/drawing/2014/main" val="1188414997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1333686815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3389232512"/>
                    </a:ext>
                  </a:extLst>
                </a:gridCol>
              </a:tblGrid>
              <a:tr h="3750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deviation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Insights: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180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0.053079104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is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high </a:t>
                      </a:r>
                      <a:r>
                        <a:rPr lang="en-US" sz="14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consistant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which means temperature is stable not much fluctuation.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7678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0.100516781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is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low </a:t>
                      </a:r>
                      <a:r>
                        <a:rPr lang="en-US" sz="16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consistant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which means humidity has little variation.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6049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59.08701518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is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highly scattered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which means rental have the high variation and doesn’t the stable demand.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4286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Hours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6.899100564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is  </a:t>
                      </a: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scattered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which means rental demand have depend on hours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varition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just like peak hours at high demand on rental bike 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8084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03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8FC21B0-66F1-9096-E164-F25D823F4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4499879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2F37F-3ABD-F0D2-0070-7F634E9E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850" y="3268639"/>
            <a:ext cx="7602151" cy="277272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US" dirty="0"/>
              <a:t>Build interactive dashboards combining multiple charts (line, bar, donut </a:t>
            </a:r>
            <a:r>
              <a:rPr lang="en-US" dirty="0" err="1"/>
              <a:t>etc</a:t>
            </a:r>
            <a:r>
              <a:rPr lang="en-US" dirty="0"/>
              <a:t>).</a:t>
            </a:r>
            <a:endParaRPr lang="en-IN" dirty="0"/>
          </a:p>
          <a:p>
            <a:r>
              <a:rPr lang="en-US" dirty="0"/>
              <a:t>Add slicers and timelines for filtering dashboards dynamically.</a:t>
            </a:r>
            <a:endParaRPr lang="en-IN" dirty="0"/>
          </a:p>
          <a:p>
            <a:r>
              <a:rPr lang="en-IN" dirty="0"/>
              <a:t>Hourly demand trends and Weather impact analysis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27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4E27477-2D9F-96C5-06D7-BBA7F8E19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0248326"/>
              </p:ext>
            </p:extLst>
          </p:nvPr>
        </p:nvGraphicFramePr>
        <p:xfrm>
          <a:off x="2133600" y="609600"/>
          <a:ext cx="6347713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884" y="3309582"/>
            <a:ext cx="8107118" cy="2731780"/>
          </a:xfrm>
        </p:spPr>
        <p:txBody>
          <a:bodyPr>
            <a:normAutofit fontScale="92500" lnSpcReduction="20000"/>
          </a:bodyPr>
          <a:lstStyle/>
          <a:p>
            <a:r>
              <a:rPr b="1" dirty="0">
                <a:solidFill>
                  <a:srgbClr val="002060"/>
                </a:solidFill>
              </a:rPr>
              <a:t>Increase bikes</a:t>
            </a:r>
            <a:r>
              <a:rPr lang="en-IN" b="1" dirty="0">
                <a:solidFill>
                  <a:srgbClr val="002060"/>
                </a:solidFill>
              </a:rPr>
              <a:t> rental</a:t>
            </a:r>
            <a:r>
              <a:rPr b="1" dirty="0">
                <a:solidFill>
                  <a:srgbClr val="002060"/>
                </a:solidFill>
              </a:rPr>
              <a:t> in peak hours</a:t>
            </a:r>
          </a:p>
          <a:p>
            <a:r>
              <a:rPr b="1" dirty="0">
                <a:solidFill>
                  <a:srgbClr val="002060"/>
                </a:solidFill>
              </a:rPr>
              <a:t>Adjust pricing by demand</a:t>
            </a:r>
          </a:p>
          <a:p>
            <a:r>
              <a:rPr b="1" dirty="0">
                <a:solidFill>
                  <a:srgbClr val="002060"/>
                </a:solidFill>
              </a:rPr>
              <a:t>Focus on weather trends</a:t>
            </a: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Key Findings:</a:t>
            </a:r>
          </a:p>
          <a:p>
            <a:r>
              <a:rPr lang="en-US" b="1" dirty="0">
                <a:solidFill>
                  <a:srgbClr val="002060"/>
                </a:solidFill>
              </a:rPr>
              <a:t>Higher demand in good weather</a:t>
            </a:r>
          </a:p>
          <a:p>
            <a:r>
              <a:rPr lang="en-US" b="1" dirty="0">
                <a:solidFill>
                  <a:srgbClr val="002060"/>
                </a:solidFill>
              </a:rPr>
              <a:t>Peak during office hours</a:t>
            </a:r>
          </a:p>
          <a:p>
            <a:r>
              <a:rPr lang="en-US" b="1" dirty="0">
                <a:solidFill>
                  <a:srgbClr val="002060"/>
                </a:solidFill>
              </a:rPr>
              <a:t>Weekend patterns differ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752F3-27FD-0E9D-20DB-3000D89BE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1" y="742950"/>
            <a:ext cx="7816102" cy="5371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8CC94F-BF1D-F748-BC96-19976C67B983}"/>
              </a:ext>
            </a:extLst>
          </p:cNvPr>
          <p:cNvSpPr txBox="1"/>
          <p:nvPr/>
        </p:nvSpPr>
        <p:spPr>
          <a:xfrm rot="10800000" flipH="1" flipV="1">
            <a:off x="8184593" y="1797239"/>
            <a:ext cx="186243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Bike demand is </a:t>
            </a:r>
            <a:r>
              <a:rPr lang="en-US" sz="1200" dirty="0">
                <a:solidFill>
                  <a:srgbClr val="FF0000"/>
                </a:solidFill>
              </a:rPr>
              <a:t>highest in </a:t>
            </a:r>
            <a:r>
              <a:rPr lang="en-US" sz="1600" b="1" dirty="0">
                <a:solidFill>
                  <a:srgbClr val="FF0000"/>
                </a:solidFill>
              </a:rPr>
              <a:t>clear weather</a:t>
            </a:r>
            <a:r>
              <a:rPr lang="en-US" sz="1200" dirty="0">
                <a:solidFill>
                  <a:srgbClr val="FF0000"/>
                </a:solidFill>
              </a:rPr>
              <a:t>, </a:t>
            </a:r>
            <a:r>
              <a:rPr lang="en-US" sz="1200" dirty="0">
                <a:solidFill>
                  <a:srgbClr val="002060"/>
                </a:solidFill>
              </a:rPr>
              <a:t>especially on weekdays, while it decreases in cloudy and rainy conditions.</a:t>
            </a:r>
            <a:br>
              <a:rPr lang="en-US" sz="1200" dirty="0">
                <a:solidFill>
                  <a:srgbClr val="002060"/>
                </a:solidFill>
              </a:rPr>
            </a:br>
            <a:r>
              <a:rPr lang="en-US" sz="1200" dirty="0">
                <a:solidFill>
                  <a:srgbClr val="002060"/>
                </a:solidFill>
              </a:rPr>
              <a:t>Extremely heavy rain shows almost no usage, indicating weather has a strong impact on bike rentals.</a:t>
            </a:r>
            <a:endParaRPr lang="en-IN" sz="1200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6EE1A-A456-9928-9787-AB798815905A}"/>
              </a:ext>
            </a:extLst>
          </p:cNvPr>
          <p:cNvSpPr txBox="1"/>
          <p:nvPr/>
        </p:nvSpPr>
        <p:spPr>
          <a:xfrm>
            <a:off x="818866" y="131141"/>
            <a:ext cx="36576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Weather vs Count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59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3C3EBB-C8B5-5864-9925-03F7585F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0" y="1466283"/>
            <a:ext cx="7902055" cy="455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ED94FC-22DB-98AA-AA85-1FD4FA650FF1}"/>
              </a:ext>
            </a:extLst>
          </p:cNvPr>
          <p:cNvSpPr txBox="1"/>
          <p:nvPr/>
        </p:nvSpPr>
        <p:spPr>
          <a:xfrm>
            <a:off x="8573068" y="1917512"/>
            <a:ext cx="13716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Bike demand is </a:t>
            </a:r>
            <a:r>
              <a:rPr lang="en-US" sz="1200" b="1" dirty="0">
                <a:solidFill>
                  <a:srgbClr val="FF0000"/>
                </a:solidFill>
              </a:rPr>
              <a:t>higher on </a:t>
            </a:r>
            <a:r>
              <a:rPr lang="en-US" sz="1600" b="1" dirty="0">
                <a:solidFill>
                  <a:srgbClr val="FF0000"/>
                </a:solidFill>
              </a:rPr>
              <a:t>weekdays </a:t>
            </a:r>
            <a:r>
              <a:rPr lang="en-US" sz="1200" b="1" dirty="0">
                <a:solidFill>
                  <a:srgbClr val="002060"/>
                </a:solidFill>
              </a:rPr>
              <a:t>compared to weekends, showing strong commuting usage.</a:t>
            </a:r>
            <a:br>
              <a:rPr lang="en-US" sz="1200" b="1" dirty="0">
                <a:solidFill>
                  <a:srgbClr val="002060"/>
                </a:solidFill>
              </a:rPr>
            </a:br>
            <a:r>
              <a:rPr lang="en-US" sz="1200" b="1" dirty="0">
                <a:solidFill>
                  <a:srgbClr val="002060"/>
                </a:solidFill>
              </a:rPr>
              <a:t>Weekends have relatively lower demand, indicating more leisure-based but limited usage.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CD0EC-7C2B-6757-2159-572B9BD41481}"/>
              </a:ext>
            </a:extLst>
          </p:cNvPr>
          <p:cNvSpPr txBox="1"/>
          <p:nvPr/>
        </p:nvSpPr>
        <p:spPr>
          <a:xfrm>
            <a:off x="887104" y="769217"/>
            <a:ext cx="515203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Weekend \Weekday vs Count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89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10E4C-10C6-DCE1-290D-F15A588A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64" y="1485900"/>
            <a:ext cx="7574508" cy="5372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1FA9F4-3E6B-89AD-4222-433B437365F0}"/>
              </a:ext>
            </a:extLst>
          </p:cNvPr>
          <p:cNvSpPr txBox="1"/>
          <p:nvPr/>
        </p:nvSpPr>
        <p:spPr>
          <a:xfrm>
            <a:off x="8395648" y="2019870"/>
            <a:ext cx="158314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Insights: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Bike demand </a:t>
            </a:r>
            <a:r>
              <a:rPr lang="en-US" sz="1200" b="1" dirty="0">
                <a:solidFill>
                  <a:srgbClr val="FF0000"/>
                </a:solidFill>
              </a:rPr>
              <a:t>decreases as </a:t>
            </a:r>
            <a:r>
              <a:rPr lang="en-US" sz="1600" b="1" dirty="0">
                <a:solidFill>
                  <a:srgbClr val="FF0000"/>
                </a:solidFill>
              </a:rPr>
              <a:t>windspeed increases,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002060"/>
                </a:solidFill>
              </a:rPr>
              <a:t>showing people avoid riding in windy conditions.</a:t>
            </a:r>
            <a:br>
              <a:rPr lang="en-US" sz="1200" b="1" dirty="0">
                <a:solidFill>
                  <a:srgbClr val="002060"/>
                </a:solidFill>
              </a:rPr>
            </a:br>
            <a:r>
              <a:rPr lang="en-US" sz="1200" b="1" dirty="0">
                <a:solidFill>
                  <a:srgbClr val="002060"/>
                </a:solidFill>
              </a:rPr>
              <a:t>Highest usage is seen at </a:t>
            </a:r>
            <a:r>
              <a:rPr lang="en-US" sz="1600" b="1" dirty="0">
                <a:solidFill>
                  <a:srgbClr val="002060"/>
                </a:solidFill>
              </a:rPr>
              <a:t>low windspeed, </a:t>
            </a:r>
            <a:r>
              <a:rPr lang="en-US" sz="1200" b="1" dirty="0">
                <a:solidFill>
                  <a:srgbClr val="002060"/>
                </a:solidFill>
              </a:rPr>
              <a:t>especially among registered users.</a:t>
            </a:r>
            <a:endParaRPr lang="en-IN" sz="1200" b="1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3778A-3ADE-7D14-8DB0-28C7BED98553}"/>
              </a:ext>
            </a:extLst>
          </p:cNvPr>
          <p:cNvSpPr txBox="1"/>
          <p:nvPr/>
        </p:nvSpPr>
        <p:spPr>
          <a:xfrm>
            <a:off x="1583140" y="509910"/>
            <a:ext cx="468345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Windspeed vs Count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7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60534-3732-0E11-2049-93FB6DB3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29" y="1739237"/>
            <a:ext cx="7453953" cy="49353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A40F31-3233-D7AD-9645-60020A65DFBC}"/>
              </a:ext>
            </a:extLst>
          </p:cNvPr>
          <p:cNvSpPr txBox="1"/>
          <p:nvPr/>
        </p:nvSpPr>
        <p:spPr>
          <a:xfrm>
            <a:off x="8033982" y="2715905"/>
            <a:ext cx="15831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Key Insights: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1. Peak Hours 🚴‍♂️</a:t>
            </a:r>
          </a:p>
          <a:p>
            <a:r>
              <a:rPr lang="en-US" sz="1200" dirty="0">
                <a:solidFill>
                  <a:srgbClr val="002060"/>
                </a:solidFill>
              </a:rPr>
              <a:t>Demand is </a:t>
            </a:r>
            <a:r>
              <a:rPr lang="en-US" sz="1200" b="1" dirty="0">
                <a:solidFill>
                  <a:srgbClr val="FF0000"/>
                </a:solidFill>
              </a:rPr>
              <a:t>highest around 7–9 AM and 5–7 PM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  <a:p>
            <a:r>
              <a:rPr lang="en-US" sz="1200" dirty="0">
                <a:solidFill>
                  <a:srgbClr val="002060"/>
                </a:solidFill>
              </a:rPr>
              <a:t>This indicates </a:t>
            </a:r>
            <a:r>
              <a:rPr lang="en-US" sz="1200" b="1" dirty="0">
                <a:solidFill>
                  <a:srgbClr val="002060"/>
                </a:solidFill>
              </a:rPr>
              <a:t>office commute patterns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</a:p>
          <a:p>
            <a:r>
              <a:rPr lang="en-US" sz="1200" dirty="0">
                <a:solidFill>
                  <a:srgbClr val="002060"/>
                </a:solidFill>
              </a:rPr>
              <a:t>2.In holidays Peak hours , demand is </a:t>
            </a:r>
            <a:r>
              <a:rPr lang="en-US" sz="1200" b="1" dirty="0">
                <a:solidFill>
                  <a:srgbClr val="FF0000"/>
                </a:solidFill>
              </a:rPr>
              <a:t>highest around 12-4 PM</a:t>
            </a:r>
          </a:p>
          <a:p>
            <a:r>
              <a:rPr lang="en-US" sz="1200" dirty="0">
                <a:solidFill>
                  <a:srgbClr val="002060"/>
                </a:solidFill>
              </a:rPr>
              <a:t>👉 Registered users dominate here → daily commuters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09561-AAE9-D128-32B4-B2E84C1C3C26}"/>
              </a:ext>
            </a:extLst>
          </p:cNvPr>
          <p:cNvSpPr txBox="1"/>
          <p:nvPr/>
        </p:nvSpPr>
        <p:spPr>
          <a:xfrm>
            <a:off x="1371600" y="757451"/>
            <a:ext cx="5445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Hours vs Count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40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91E8D0-DD1B-24D5-A2DA-D6558B19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55" y="1690048"/>
            <a:ext cx="8175009" cy="4558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F3FA23-7672-19FD-5477-6E0CAF8DC4F5}"/>
              </a:ext>
            </a:extLst>
          </p:cNvPr>
          <p:cNvSpPr txBox="1"/>
          <p:nvPr/>
        </p:nvSpPr>
        <p:spPr>
          <a:xfrm>
            <a:off x="8572564" y="2399563"/>
            <a:ext cx="20335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002060"/>
                </a:solidFill>
              </a:rPr>
              <a:t>Key Insights:</a:t>
            </a:r>
          </a:p>
          <a:p>
            <a:endParaRPr lang="en-IN" sz="1400" b="1" dirty="0">
              <a:solidFill>
                <a:srgbClr val="002060"/>
              </a:solidFill>
            </a:endParaRPr>
          </a:p>
          <a:p>
            <a:r>
              <a:rPr lang="en-IN" sz="1400" b="1" dirty="0">
                <a:solidFill>
                  <a:srgbClr val="002060"/>
                </a:solidFill>
              </a:rPr>
              <a:t>As </a:t>
            </a:r>
            <a:r>
              <a:rPr lang="en-IN" sz="1400" b="1" dirty="0" err="1">
                <a:solidFill>
                  <a:srgbClr val="002060"/>
                </a:solidFill>
              </a:rPr>
              <a:t>atemp</a:t>
            </a:r>
            <a:r>
              <a:rPr lang="en-IN" sz="1400" b="1" dirty="0">
                <a:solidFill>
                  <a:srgbClr val="002060"/>
                </a:solidFill>
              </a:rPr>
              <a:t> (assume temperature) increases , registered and </a:t>
            </a:r>
            <a:r>
              <a:rPr lang="en-IN" sz="1400" b="1" dirty="0">
                <a:solidFill>
                  <a:srgbClr val="FF0000"/>
                </a:solidFill>
              </a:rPr>
              <a:t>total count increase</a:t>
            </a:r>
            <a:r>
              <a:rPr lang="en-IN" sz="1400" b="1" dirty="0">
                <a:solidFill>
                  <a:srgbClr val="002060"/>
                </a:solidFill>
              </a:rPr>
              <a:t> with a peak of moderate  temperature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2D9EC-54A9-9366-1247-FFE87EE75079}"/>
              </a:ext>
            </a:extLst>
          </p:cNvPr>
          <p:cNvSpPr txBox="1"/>
          <p:nvPr/>
        </p:nvSpPr>
        <p:spPr>
          <a:xfrm>
            <a:off x="2408830" y="685379"/>
            <a:ext cx="4367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Atemp</a:t>
            </a:r>
            <a:r>
              <a:rPr lang="en-US" sz="2800" b="1" dirty="0">
                <a:solidFill>
                  <a:srgbClr val="FF0000"/>
                </a:solidFill>
              </a:rPr>
              <a:t> vs Count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51746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3E6F4E-8178-2539-B431-02CB6B33FA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207053"/>
              </p:ext>
            </p:extLst>
          </p:nvPr>
        </p:nvGraphicFramePr>
        <p:xfrm>
          <a:off x="1999398" y="3073021"/>
          <a:ext cx="4449169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229</TotalTime>
  <Words>651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Prakash</dc:creator>
  <cp:lastModifiedBy>Om Prakash</cp:lastModifiedBy>
  <cp:revision>6</cp:revision>
  <dcterms:created xsi:type="dcterms:W3CDTF">2026-03-24T05:39:59Z</dcterms:created>
  <dcterms:modified xsi:type="dcterms:W3CDTF">2026-03-24T09:33:04Z</dcterms:modified>
</cp:coreProperties>
</file>